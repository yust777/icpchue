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Calibri (MS) Bold" charset="1" panose="020F0702030404030204"/>
      <p:regular r:id="rId27"/>
    </p:embeddedFont>
    <p:embeddedFont>
      <p:font typeface="Arial Bold" charset="1" panose="020B0704020202020204"/>
      <p:regular r:id="rId28"/>
    </p:embeddedFont>
    <p:embeddedFont>
      <p:font typeface="Calibri (MS)" charset="1" panose="020F0502020204030204"/>
      <p:regular r:id="rId29"/>
    </p:embeddedFont>
    <p:embeddedFont>
      <p:font typeface="Courier New" charset="1" panose="02070309020205020404"/>
      <p:regular r:id="rId30"/>
    </p:embeddedFont>
    <p:embeddedFont>
      <p:font typeface="Courier New Bold" charset="1" panose="020706090202050204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Relationship Id="rId4" Target="https://www.icpchue.com" TargetMode="External" Type="http://schemas.openxmlformats.org/officeDocument/2006/relationships/hyperlink"/><Relationship Id="rId5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Relationship Id="rId4" Target="https://code.visualstudio.com" TargetMode="External" Type="http://schemas.openxmlformats.org/officeDocument/2006/relationships/hyperlink"/><Relationship Id="rId5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Relationship Id="rId4" Target="https://codeforces.com" TargetMode="External" Type="http://schemas.openxmlformats.org/officeDocument/2006/relationships/hyperlink"/><Relationship Id="rId5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Relationship Id="rId4" Target="https://problam.com" TargetMode="External" Type="http://schemas.openxmlformats.org/officeDocument/2006/relationships/hyperlink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media/image1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Relationship Id="rId6" Target="../media/image5.jpe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754380"/>
            <a:ext cx="1371600" cy="905256"/>
            <a:chOff x="0" y="0"/>
            <a:chExt cx="1828800" cy="1207008"/>
          </a:xfrm>
        </p:grpSpPr>
        <p:sp>
          <p:nvSpPr>
            <p:cNvPr name="Freeform 4" id="4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8288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207008"/>
                  </a:lnTo>
                  <a:lnTo>
                    <a:pt x="0" y="1207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" t="0" r="-54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241323" y="685800"/>
            <a:ext cx="932688" cy="905256"/>
            <a:chOff x="0" y="0"/>
            <a:chExt cx="1243584" cy="1207008"/>
          </a:xfrm>
        </p:grpSpPr>
        <p:sp>
          <p:nvSpPr>
            <p:cNvPr name="Freeform 6" id="6" descr="/home/yousefmsm1/Desktop/ICPC HUE - Canva Template Kit/assets/logo-ai-faculty.png"/>
            <p:cNvSpPr/>
            <p:nvPr/>
          </p:nvSpPr>
          <p:spPr>
            <a:xfrm flipH="false" flipV="false" rot="0">
              <a:off x="0" y="0"/>
              <a:ext cx="1243584" cy="1207008"/>
            </a:xfrm>
            <a:custGeom>
              <a:avLst/>
              <a:gdLst/>
              <a:ahLst/>
              <a:cxnLst/>
              <a:rect r="r" b="b" t="t" l="l"/>
              <a:pathLst>
                <a:path h="1207008" w="1243584">
                  <a:moveTo>
                    <a:pt x="0" y="0"/>
                  </a:moveTo>
                  <a:lnTo>
                    <a:pt x="1243584" y="0"/>
                  </a:lnTo>
                  <a:lnTo>
                    <a:pt x="1243584" y="1207008"/>
                  </a:lnTo>
                  <a:lnTo>
                    <a:pt x="0" y="1207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9" r="0" b="-7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338603" y="795528"/>
            <a:ext cx="2125980" cy="768096"/>
            <a:chOff x="0" y="0"/>
            <a:chExt cx="2834640" cy="1024128"/>
          </a:xfrm>
        </p:grpSpPr>
        <p:sp>
          <p:nvSpPr>
            <p:cNvPr name="Freeform 8" id="8" descr="/home/yousefmsm1/Desktop/ICPC HUE - Canva Template Kit/assets/logo-hue-white.png"/>
            <p:cNvSpPr/>
            <p:nvPr/>
          </p:nvSpPr>
          <p:spPr>
            <a:xfrm flipH="false" flipV="false" rot="0">
              <a:off x="0" y="0"/>
              <a:ext cx="28346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12" r="0" b="-31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13435" y="3350895"/>
            <a:ext cx="3530346" cy="512826"/>
            <a:chOff x="0" y="0"/>
            <a:chExt cx="4707128" cy="6837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07128" cy="683768"/>
            </a:xfrm>
            <a:custGeom>
              <a:avLst/>
              <a:gdLst/>
              <a:ahLst/>
              <a:cxnLst/>
              <a:rect r="r" b="b" t="t" l="l"/>
              <a:pathLst>
                <a:path h="683768" w="4707128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4365244" y="0"/>
                  </a:lnTo>
                  <a:cubicBezTo>
                    <a:pt x="4554093" y="0"/>
                    <a:pt x="4707128" y="153035"/>
                    <a:pt x="4707128" y="341884"/>
                  </a:cubicBezTo>
                  <a:cubicBezTo>
                    <a:pt x="4707128" y="530733"/>
                    <a:pt x="4554093" y="683768"/>
                    <a:pt x="4365244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CB2B"/>
            </a:solidFill>
            <a:ln w="19050" cap="sq">
              <a:solidFill>
                <a:srgbClr val="FFCB2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3360420"/>
            <a:ext cx="3511296" cy="493776"/>
            <a:chOff x="0" y="0"/>
            <a:chExt cx="4681728" cy="6583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81728" cy="658368"/>
            </a:xfrm>
            <a:custGeom>
              <a:avLst/>
              <a:gdLst/>
              <a:ahLst/>
              <a:cxnLst/>
              <a:rect r="r" b="b" t="t" l="l"/>
              <a:pathLst>
                <a:path h="658368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8560" r="0" b="-885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4681728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 01  ·  LEVEL 1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22960" y="4086225"/>
            <a:ext cx="8915400" cy="277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Welcome to</a:t>
            </a:r>
          </a:p>
          <a:p>
            <a:pPr algn="l">
              <a:lnSpc>
                <a:spcPts val="10080"/>
              </a:lnSpc>
            </a:pPr>
            <a:r>
              <a:rPr lang="en-US" sz="84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ICPC HUE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22960" y="6995160"/>
            <a:ext cx="8915400" cy="685800"/>
            <a:chOff x="0" y="0"/>
            <a:chExt cx="118872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887200" cy="914400"/>
            </a:xfrm>
            <a:custGeom>
              <a:avLst/>
              <a:gdLst/>
              <a:ahLst/>
              <a:cxnLst/>
              <a:rect r="r" b="b" t="t" l="l"/>
              <a:pathLst>
                <a:path h="91440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18872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A9B4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Our rules · our tools · your first C++ code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9326880"/>
            <a:ext cx="6858000" cy="480060"/>
            <a:chOff x="0" y="0"/>
            <a:chExt cx="914400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9B4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Saturday  ·  Season 2027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11480"/>
            <a:ext cx="822960" cy="548640"/>
            <a:chOff x="0" y="0"/>
            <a:chExt cx="1097280" cy="731520"/>
          </a:xfrm>
        </p:grpSpPr>
        <p:sp>
          <p:nvSpPr>
            <p:cNvPr name="Freeform 3" id="3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0" t="0" r="-55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2940">
            <a:off x="815816" y="1202246"/>
            <a:ext cx="16655920" cy="0"/>
          </a:xfrm>
          <a:prstGeom prst="line">
            <a:avLst/>
          </a:prstGeom>
          <a:ln cap="rnd" w="9525">
            <a:solidFill>
              <a:srgbClr val="2430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977640" y="411480"/>
            <a:ext cx="8229600" cy="548640"/>
            <a:chOff x="0" y="0"/>
            <a:chExt cx="10972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972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9B4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COMMITMENT POLICY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440180"/>
            <a:ext cx="16641623" cy="1165860"/>
            <a:chOff x="0" y="0"/>
            <a:chExt cx="2218883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883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131" r="0" b="-2281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8883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Our policy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22960" y="2540508"/>
            <a:ext cx="16641623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9B4D0"/>
                </a:solidFill>
                <a:latin typeface="Calibri (MS)"/>
                <a:ea typeface="Calibri (MS)"/>
                <a:cs typeface="Calibri (MS)"/>
                <a:sym typeface="Calibri (MS)"/>
              </a:rPr>
              <a:t>Consistency is what turns beginners into contestants.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5816" y="3284696"/>
            <a:ext cx="8106728" cy="1660208"/>
            <a:chOff x="0" y="0"/>
            <a:chExt cx="10808970" cy="22136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0897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808970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550652" y="0"/>
                  </a:lnTo>
                  <a:cubicBezTo>
                    <a:pt x="10693400" y="0"/>
                    <a:pt x="10808970" y="115570"/>
                    <a:pt x="10808970" y="258318"/>
                  </a:cubicBezTo>
                  <a:lnTo>
                    <a:pt x="10808970" y="1955292"/>
                  </a:lnTo>
                  <a:cubicBezTo>
                    <a:pt x="10808970" y="2097913"/>
                    <a:pt x="10693400" y="2213610"/>
                    <a:pt x="10550651" y="2213610"/>
                  </a:cubicBezTo>
                  <a:lnTo>
                    <a:pt x="258318" y="2213610"/>
                  </a:lnTo>
                  <a:cubicBezTo>
                    <a:pt x="115570" y="2213610"/>
                    <a:pt x="0" y="2098040"/>
                    <a:pt x="0" y="1955292"/>
                  </a:cubicBezTo>
                  <a:close/>
                </a:path>
              </a:pathLst>
            </a:custGeom>
            <a:solidFill>
              <a:srgbClr val="121C40"/>
            </a:solidFill>
            <a:ln w="14288" cap="sq">
              <a:solidFill>
                <a:srgbClr val="24305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3291840"/>
            <a:ext cx="2743200" cy="1645920"/>
            <a:chOff x="0" y="0"/>
            <a:chExt cx="3657600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365760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rtl="true">
                <a:lnSpc>
                  <a:spcPts val="3960"/>
                </a:lnSpc>
              </a:pPr>
              <a:r>
                <a:rPr lang="ar-EG" b="true" sz="3300">
                  <a:solidFill>
                    <a:srgbClr val="FF7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= باند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03320" y="3291840"/>
            <a:ext cx="4800600" cy="1645920"/>
            <a:chOff x="0" y="0"/>
            <a:chExt cx="6400800" cy="2194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00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640080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960"/>
                </a:lnSpc>
              </a:pPr>
              <a:r>
                <a:rPr lang="en-US" b="true" sz="3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٣</a:t>
              </a:r>
              <a:r>
                <a:rPr lang="ar-EG" b="true" sz="3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 غيابات كونتست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78588" y="3284696"/>
            <a:ext cx="8106728" cy="1660208"/>
            <a:chOff x="0" y="0"/>
            <a:chExt cx="10808970" cy="22136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0897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808970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550652" y="0"/>
                  </a:lnTo>
                  <a:cubicBezTo>
                    <a:pt x="10693400" y="0"/>
                    <a:pt x="10808970" y="115570"/>
                    <a:pt x="10808970" y="258318"/>
                  </a:cubicBezTo>
                  <a:lnTo>
                    <a:pt x="10808970" y="1955292"/>
                  </a:lnTo>
                  <a:cubicBezTo>
                    <a:pt x="10808970" y="2097913"/>
                    <a:pt x="10693400" y="2213610"/>
                    <a:pt x="10550651" y="2213610"/>
                  </a:cubicBezTo>
                  <a:lnTo>
                    <a:pt x="258318" y="2213610"/>
                  </a:lnTo>
                  <a:cubicBezTo>
                    <a:pt x="115570" y="2213610"/>
                    <a:pt x="0" y="2098040"/>
                    <a:pt x="0" y="1955292"/>
                  </a:cubicBezTo>
                  <a:close/>
                </a:path>
              </a:pathLst>
            </a:custGeom>
            <a:solidFill>
              <a:srgbClr val="121C40"/>
            </a:solidFill>
            <a:ln w="14288" cap="sq">
              <a:solidFill>
                <a:srgbClr val="24305C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697212" y="3291840"/>
            <a:ext cx="2743200" cy="1645920"/>
            <a:chOff x="0" y="0"/>
            <a:chExt cx="3657600" cy="2194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365760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rtl="true">
                <a:lnSpc>
                  <a:spcPts val="3960"/>
                </a:lnSpc>
              </a:pPr>
              <a:r>
                <a:rPr lang="ar-EG" b="true" sz="3300">
                  <a:solidFill>
                    <a:srgbClr val="FF7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= باند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166092" y="3291840"/>
            <a:ext cx="4800600" cy="1645920"/>
            <a:chOff x="0" y="0"/>
            <a:chExt cx="6400800" cy="2194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00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640080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960"/>
                </a:lnSpc>
              </a:pPr>
              <a:r>
                <a:rPr lang="en-US" b="true" sz="3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٣</a:t>
              </a:r>
              <a:r>
                <a:rPr lang="ar-EG" b="true" sz="3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 غيابات سيشن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5816" y="5273516"/>
            <a:ext cx="8106728" cy="1660208"/>
            <a:chOff x="0" y="0"/>
            <a:chExt cx="10808970" cy="22136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0897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808970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550652" y="0"/>
                  </a:lnTo>
                  <a:cubicBezTo>
                    <a:pt x="10693400" y="0"/>
                    <a:pt x="10808970" y="115570"/>
                    <a:pt x="10808970" y="258318"/>
                  </a:cubicBezTo>
                  <a:lnTo>
                    <a:pt x="10808970" y="1955292"/>
                  </a:lnTo>
                  <a:cubicBezTo>
                    <a:pt x="10808970" y="2097913"/>
                    <a:pt x="10693400" y="2213610"/>
                    <a:pt x="10550651" y="2213610"/>
                  </a:cubicBezTo>
                  <a:lnTo>
                    <a:pt x="258318" y="2213610"/>
                  </a:lnTo>
                  <a:cubicBezTo>
                    <a:pt x="115570" y="2213610"/>
                    <a:pt x="0" y="2098040"/>
                    <a:pt x="0" y="1955292"/>
                  </a:cubicBezTo>
                  <a:close/>
                </a:path>
              </a:pathLst>
            </a:custGeom>
            <a:solidFill>
              <a:srgbClr val="121C40"/>
            </a:solidFill>
            <a:ln w="14288" cap="sq">
              <a:solidFill>
                <a:srgbClr val="24305C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34440" y="5280660"/>
            <a:ext cx="2743200" cy="1645920"/>
            <a:chOff x="0" y="0"/>
            <a:chExt cx="3657600" cy="2194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7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365760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rtl="true">
                <a:lnSpc>
                  <a:spcPts val="3960"/>
                </a:lnSpc>
              </a:pPr>
              <a:r>
                <a:rPr lang="ar-EG" b="true" sz="3300">
                  <a:solidFill>
                    <a:srgbClr val="FFCB2B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= غياب واحد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703320" y="5280660"/>
            <a:ext cx="4800600" cy="1645920"/>
            <a:chOff x="0" y="0"/>
            <a:chExt cx="6400800" cy="21945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00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640080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960"/>
                </a:lnSpc>
              </a:pPr>
              <a:r>
                <a:rPr lang="ar-EG" b="true" sz="3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تأخير ربع ساعة </a:t>
              </a:r>
              <a:r>
                <a:rPr lang="en-US" b="true" sz="3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٣</a:t>
              </a:r>
              <a:r>
                <a:rPr lang="ar-EG" b="true" sz="3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 مرات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278588" y="5273516"/>
            <a:ext cx="8106728" cy="1660208"/>
            <a:chOff x="0" y="0"/>
            <a:chExt cx="10808970" cy="221361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80897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808970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550652" y="0"/>
                  </a:lnTo>
                  <a:cubicBezTo>
                    <a:pt x="10693400" y="0"/>
                    <a:pt x="10808970" y="115570"/>
                    <a:pt x="10808970" y="258318"/>
                  </a:cubicBezTo>
                  <a:lnTo>
                    <a:pt x="10808970" y="1955292"/>
                  </a:lnTo>
                  <a:cubicBezTo>
                    <a:pt x="10808970" y="2097913"/>
                    <a:pt x="10693400" y="2213610"/>
                    <a:pt x="10550651" y="2213610"/>
                  </a:cubicBezTo>
                  <a:lnTo>
                    <a:pt x="258318" y="2213610"/>
                  </a:lnTo>
                  <a:cubicBezTo>
                    <a:pt x="115570" y="2213610"/>
                    <a:pt x="0" y="2098040"/>
                    <a:pt x="0" y="1955292"/>
                  </a:cubicBezTo>
                  <a:close/>
                </a:path>
              </a:pathLst>
            </a:custGeom>
            <a:solidFill>
              <a:srgbClr val="121C40"/>
            </a:solidFill>
            <a:ln w="14288" cap="sq">
              <a:solidFill>
                <a:srgbClr val="24305C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697212" y="5280660"/>
            <a:ext cx="2743200" cy="1645920"/>
            <a:chOff x="0" y="0"/>
            <a:chExt cx="3657600" cy="21945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57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365760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rtl="true">
                <a:lnSpc>
                  <a:spcPts val="3960"/>
                </a:lnSpc>
              </a:pPr>
              <a:r>
                <a:rPr lang="ar-EG" b="true" sz="3300">
                  <a:solidFill>
                    <a:srgbClr val="FF7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= باند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166092" y="5280660"/>
            <a:ext cx="4800600" cy="1645920"/>
            <a:chOff x="0" y="0"/>
            <a:chExt cx="6400800" cy="21945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00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640080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960"/>
                </a:lnSpc>
              </a:pPr>
              <a:r>
                <a:rPr lang="ar-EG" b="true" sz="3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متحلش </a:t>
              </a:r>
              <a:r>
                <a:rPr lang="en-US" b="true" sz="3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٨٠</a:t>
              </a:r>
              <a:r>
                <a:rPr lang="ar-EG" b="true" sz="3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٪ من الشيت </a:t>
              </a:r>
              <a:r>
                <a:rPr lang="en-US" b="true" sz="3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٣</a:t>
              </a:r>
              <a:r>
                <a:rPr lang="ar-EG" b="true" sz="3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 مرات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15816" y="7399496"/>
            <a:ext cx="16655910" cy="1454468"/>
            <a:chOff x="0" y="0"/>
            <a:chExt cx="22207880" cy="193929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207855" cy="1939290"/>
            </a:xfrm>
            <a:custGeom>
              <a:avLst/>
              <a:gdLst/>
              <a:ahLst/>
              <a:cxnLst/>
              <a:rect r="r" b="b" t="t" l="l"/>
              <a:pathLst>
                <a:path h="1939290" w="22207855">
                  <a:moveTo>
                    <a:pt x="0" y="258572"/>
                  </a:moveTo>
                  <a:cubicBezTo>
                    <a:pt x="0" y="115824"/>
                    <a:pt x="115824" y="0"/>
                    <a:pt x="258572" y="0"/>
                  </a:cubicBezTo>
                  <a:lnTo>
                    <a:pt x="21949283" y="0"/>
                  </a:lnTo>
                  <a:cubicBezTo>
                    <a:pt x="22092031" y="0"/>
                    <a:pt x="22207855" y="115824"/>
                    <a:pt x="22207855" y="258572"/>
                  </a:cubicBezTo>
                  <a:lnTo>
                    <a:pt x="22207855" y="1680718"/>
                  </a:lnTo>
                  <a:cubicBezTo>
                    <a:pt x="22207855" y="1823466"/>
                    <a:pt x="22092031" y="1939290"/>
                    <a:pt x="21949283" y="1939290"/>
                  </a:cubicBezTo>
                  <a:lnTo>
                    <a:pt x="258572" y="1939290"/>
                  </a:lnTo>
                  <a:cubicBezTo>
                    <a:pt x="115824" y="1939290"/>
                    <a:pt x="0" y="1823466"/>
                    <a:pt x="0" y="1680718"/>
                  </a:cubicBezTo>
                  <a:close/>
                </a:path>
              </a:pathLst>
            </a:custGeom>
            <a:solidFill>
              <a:srgbClr val="FFCB2B"/>
            </a:solidFill>
            <a:ln w="14288" cap="sq">
              <a:solidFill>
                <a:srgbClr val="FFCB2B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303020" y="7406640"/>
            <a:ext cx="3429000" cy="1440180"/>
            <a:chOff x="0" y="0"/>
            <a:chExt cx="4572000" cy="19202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5720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87" t="0" r="-3887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57200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WEEKLY SHEET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800600" y="7406640"/>
            <a:ext cx="12252503" cy="1440180"/>
            <a:chOff x="0" y="0"/>
            <a:chExt cx="16336670" cy="19202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6336669" cy="1920240"/>
            </a:xfrm>
            <a:custGeom>
              <a:avLst/>
              <a:gdLst/>
              <a:ahLst/>
              <a:cxnLst/>
              <a:rect r="r" b="b" t="t" l="l"/>
              <a:pathLst>
                <a:path h="1920240" w="16336669">
                  <a:moveTo>
                    <a:pt x="0" y="0"/>
                  </a:moveTo>
                  <a:lnTo>
                    <a:pt x="16336669" y="0"/>
                  </a:lnTo>
                  <a:lnTo>
                    <a:pt x="16336669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771" r="0" b="-11577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16336670" cy="1986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600"/>
                </a:lnSpc>
              </a:pPr>
              <a:r>
                <a:rPr lang="ar-EG" b="true" sz="3000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لازم تحل على الأقل </a:t>
              </a:r>
              <a:r>
                <a:rPr lang="en-US" b="true" sz="3000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٨٠</a:t>
              </a:r>
              <a:r>
                <a:rPr lang="ar-EG" b="true" sz="3000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 val="true"/>
                </a:rPr>
                <a:t>٪ من الشيت كل أسبوع… مش مهم تتأخر، المهم تحل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6458743" y="41910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11480"/>
            <a:ext cx="822960" cy="548640"/>
            <a:chOff x="0" y="0"/>
            <a:chExt cx="1097280" cy="731520"/>
          </a:xfrm>
        </p:grpSpPr>
        <p:sp>
          <p:nvSpPr>
            <p:cNvPr name="Freeform 3" id="3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0" t="0" r="-55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2940">
            <a:off x="815816" y="1202246"/>
            <a:ext cx="16655920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977640" y="411480"/>
            <a:ext cx="8229600" cy="548640"/>
            <a:chOff x="0" y="0"/>
            <a:chExt cx="10972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972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5B67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WEEKLY RHYTHM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440180"/>
            <a:ext cx="16641623" cy="1165860"/>
            <a:chOff x="0" y="0"/>
            <a:chExt cx="2218883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883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131" r="0" b="-2281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8883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1B3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How our week works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22960" y="2540508"/>
            <a:ext cx="16641623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785"/>
                </a:solidFill>
                <a:latin typeface="Calibri (MS)"/>
                <a:ea typeface="Calibri (MS)"/>
                <a:cs typeface="Calibri (MS)"/>
                <a:sym typeface="Calibri (MS)"/>
              </a:rPr>
              <a:t>Three days, one loop: learn it, test it, fix it.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5816" y="3421856"/>
            <a:ext cx="5226368" cy="4540568"/>
            <a:chOff x="0" y="0"/>
            <a:chExt cx="6968490" cy="60540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68489" cy="6054090"/>
            </a:xfrm>
            <a:custGeom>
              <a:avLst/>
              <a:gdLst/>
              <a:ahLst/>
              <a:cxnLst/>
              <a:rect r="r" b="b" t="t" l="l"/>
              <a:pathLst>
                <a:path h="6054090" w="6968489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6711696" y="0"/>
                  </a:lnTo>
                  <a:cubicBezTo>
                    <a:pt x="6853555" y="0"/>
                    <a:pt x="6968489" y="114935"/>
                    <a:pt x="6968489" y="256794"/>
                  </a:cubicBezTo>
                  <a:lnTo>
                    <a:pt x="6968489" y="5797296"/>
                  </a:lnTo>
                  <a:cubicBezTo>
                    <a:pt x="6968489" y="5939155"/>
                    <a:pt x="6853555" y="6054090"/>
                    <a:pt x="6711696" y="6054090"/>
                  </a:cubicBezTo>
                  <a:lnTo>
                    <a:pt x="256794" y="6054090"/>
                  </a:lnTo>
                  <a:cubicBezTo>
                    <a:pt x="114935" y="6054090"/>
                    <a:pt x="0" y="5939155"/>
                    <a:pt x="0" y="579729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E9F5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93495" y="3899535"/>
            <a:ext cx="1006602" cy="1006602"/>
            <a:chOff x="0" y="0"/>
            <a:chExt cx="1342136" cy="13421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213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cubicBezTo>
                    <a:pt x="1041654" y="0"/>
                    <a:pt x="1342136" y="300482"/>
                    <a:pt x="1342136" y="671068"/>
                  </a:cubicBezTo>
                  <a:cubicBezTo>
                    <a:pt x="1342136" y="1041654"/>
                    <a:pt x="1041654" y="1342136"/>
                    <a:pt x="671068" y="1342136"/>
                  </a:cubicBez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0A3496"/>
            </a:solidFill>
            <a:ln w="19050" cap="sq">
              <a:solidFill>
                <a:srgbClr val="0A349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569663" y="4175703"/>
            <a:ext cx="454276" cy="454276"/>
            <a:chOff x="0" y="0"/>
            <a:chExt cx="605701" cy="605701"/>
          </a:xfrm>
        </p:grpSpPr>
        <p:sp>
          <p:nvSpPr>
            <p:cNvPr name="Freeform 17" id="17" descr="/home/yousefmsm1/Desktop/ICPC HUE - Canva Template Kit/pptx_build/i_cal_w.png"/>
            <p:cNvSpPr/>
            <p:nvPr/>
          </p:nvSpPr>
          <p:spPr>
            <a:xfrm flipH="false" flipV="false" rot="0">
              <a:off x="0" y="0"/>
              <a:ext cx="605663" cy="605663"/>
            </a:xfrm>
            <a:custGeom>
              <a:avLst/>
              <a:gdLst/>
              <a:ahLst/>
              <a:cxnLst/>
              <a:rect r="r" b="b" t="t" l="l"/>
              <a:pathLst>
                <a:path h="605663" w="605663">
                  <a:moveTo>
                    <a:pt x="0" y="0"/>
                  </a:moveTo>
                  <a:lnTo>
                    <a:pt x="605663" y="0"/>
                  </a:lnTo>
                  <a:lnTo>
                    <a:pt x="605663" y="605663"/>
                  </a:lnTo>
                  <a:lnTo>
                    <a:pt x="0" y="605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6" b="-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03020" y="5143500"/>
            <a:ext cx="4389120" cy="480060"/>
            <a:chOff x="0" y="0"/>
            <a:chExt cx="585216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52160" cy="640080"/>
            </a:xfrm>
            <a:custGeom>
              <a:avLst/>
              <a:gdLst/>
              <a:ahLst/>
              <a:cxnLst/>
              <a:rect r="r" b="b" t="t" l="l"/>
              <a:pathLst>
                <a:path h="640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8521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SATURDAY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03020" y="5623560"/>
            <a:ext cx="4389120" cy="822960"/>
            <a:chOff x="0" y="0"/>
            <a:chExt cx="585216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52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8521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1B3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Session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03020" y="6457950"/>
            <a:ext cx="4389120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B6785"/>
                </a:solidFill>
                <a:latin typeface="Calibri (MS)"/>
                <a:ea typeface="Calibri (MS)"/>
                <a:cs typeface="Calibri (MS)"/>
                <a:sym typeface="Calibri (MS)"/>
              </a:rPr>
              <a:t>Live training on a new topic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439376" y="3421856"/>
            <a:ext cx="5226368" cy="4540568"/>
            <a:chOff x="0" y="0"/>
            <a:chExt cx="6968490" cy="60540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68489" cy="6054090"/>
            </a:xfrm>
            <a:custGeom>
              <a:avLst/>
              <a:gdLst/>
              <a:ahLst/>
              <a:cxnLst/>
              <a:rect r="r" b="b" t="t" l="l"/>
              <a:pathLst>
                <a:path h="6054090" w="6968489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6711696" y="0"/>
                  </a:lnTo>
                  <a:cubicBezTo>
                    <a:pt x="6853555" y="0"/>
                    <a:pt x="6968489" y="114935"/>
                    <a:pt x="6968489" y="256794"/>
                  </a:cubicBezTo>
                  <a:lnTo>
                    <a:pt x="6968489" y="5797296"/>
                  </a:lnTo>
                  <a:cubicBezTo>
                    <a:pt x="6968489" y="5939155"/>
                    <a:pt x="6853555" y="6054090"/>
                    <a:pt x="6711696" y="6054090"/>
                  </a:cubicBezTo>
                  <a:lnTo>
                    <a:pt x="256794" y="6054090"/>
                  </a:lnTo>
                  <a:cubicBezTo>
                    <a:pt x="114935" y="6054090"/>
                    <a:pt x="0" y="5939155"/>
                    <a:pt x="0" y="5797296"/>
                  </a:cubicBezTo>
                  <a:close/>
                </a:path>
              </a:pathLst>
            </a:custGeom>
            <a:solidFill>
              <a:srgbClr val="0A1230"/>
            </a:solidFill>
            <a:ln w="14288" cap="sq">
              <a:solidFill>
                <a:srgbClr val="0A123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917055" y="3899535"/>
            <a:ext cx="1006602" cy="1006602"/>
            <a:chOff x="0" y="0"/>
            <a:chExt cx="1342136" cy="13421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4213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cubicBezTo>
                    <a:pt x="1041654" y="0"/>
                    <a:pt x="1342136" y="300482"/>
                    <a:pt x="1342136" y="671068"/>
                  </a:cubicBezTo>
                  <a:cubicBezTo>
                    <a:pt x="1342136" y="1041654"/>
                    <a:pt x="1041654" y="1342136"/>
                    <a:pt x="671068" y="1342136"/>
                  </a:cubicBez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FFCB2B"/>
            </a:solidFill>
            <a:ln w="19050" cap="sq">
              <a:solidFill>
                <a:srgbClr val="FFCB2B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7193223" y="4175703"/>
            <a:ext cx="454276" cy="454276"/>
            <a:chOff x="0" y="0"/>
            <a:chExt cx="605701" cy="605701"/>
          </a:xfrm>
        </p:grpSpPr>
        <p:sp>
          <p:nvSpPr>
            <p:cNvPr name="Freeform 30" id="30" descr="/home/yousefmsm1/Desktop/ICPC HUE - Canva Template Kit/pptx_build/i_flag_n.png"/>
            <p:cNvSpPr/>
            <p:nvPr/>
          </p:nvSpPr>
          <p:spPr>
            <a:xfrm flipH="false" flipV="false" rot="0">
              <a:off x="0" y="0"/>
              <a:ext cx="605663" cy="605663"/>
            </a:xfrm>
            <a:custGeom>
              <a:avLst/>
              <a:gdLst/>
              <a:ahLst/>
              <a:cxnLst/>
              <a:rect r="r" b="b" t="t" l="l"/>
              <a:pathLst>
                <a:path h="605663" w="605663">
                  <a:moveTo>
                    <a:pt x="0" y="0"/>
                  </a:moveTo>
                  <a:lnTo>
                    <a:pt x="605663" y="0"/>
                  </a:lnTo>
                  <a:lnTo>
                    <a:pt x="605663" y="605663"/>
                  </a:lnTo>
                  <a:lnTo>
                    <a:pt x="0" y="605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-6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926580" y="5143500"/>
            <a:ext cx="4389120" cy="480060"/>
            <a:chOff x="0" y="0"/>
            <a:chExt cx="5852160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852160" cy="640080"/>
            </a:xfrm>
            <a:custGeom>
              <a:avLst/>
              <a:gdLst/>
              <a:ahLst/>
              <a:cxnLst/>
              <a:rect r="r" b="b" t="t" l="l"/>
              <a:pathLst>
                <a:path h="640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8521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FCB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WEDNESDAY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926580" y="5623560"/>
            <a:ext cx="4389120" cy="822960"/>
            <a:chOff x="0" y="0"/>
            <a:chExt cx="585216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852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58521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Contest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6926580" y="6457950"/>
            <a:ext cx="4389120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A9B4D0"/>
                </a:solidFill>
                <a:latin typeface="Calibri (MS)"/>
                <a:ea typeface="Calibri (MS)"/>
                <a:cs typeface="Calibri (MS)"/>
                <a:sym typeface="Calibri (MS)"/>
              </a:rPr>
              <a:t>Weekly contest on Codeforces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062936" y="3421856"/>
            <a:ext cx="5226368" cy="4540568"/>
            <a:chOff x="0" y="0"/>
            <a:chExt cx="6968490" cy="605409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68489" cy="6054090"/>
            </a:xfrm>
            <a:custGeom>
              <a:avLst/>
              <a:gdLst/>
              <a:ahLst/>
              <a:cxnLst/>
              <a:rect r="r" b="b" t="t" l="l"/>
              <a:pathLst>
                <a:path h="6054090" w="6968489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6711696" y="0"/>
                  </a:lnTo>
                  <a:cubicBezTo>
                    <a:pt x="6853555" y="0"/>
                    <a:pt x="6968489" y="114935"/>
                    <a:pt x="6968489" y="256794"/>
                  </a:cubicBezTo>
                  <a:lnTo>
                    <a:pt x="6968489" y="5797296"/>
                  </a:lnTo>
                  <a:cubicBezTo>
                    <a:pt x="6968489" y="5939155"/>
                    <a:pt x="6853555" y="6054090"/>
                    <a:pt x="6711696" y="6054090"/>
                  </a:cubicBezTo>
                  <a:lnTo>
                    <a:pt x="256794" y="6054090"/>
                  </a:lnTo>
                  <a:cubicBezTo>
                    <a:pt x="114935" y="6054090"/>
                    <a:pt x="0" y="5939155"/>
                    <a:pt x="0" y="579729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E9F5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540615" y="3899535"/>
            <a:ext cx="1006602" cy="1006602"/>
            <a:chOff x="0" y="0"/>
            <a:chExt cx="1342136" cy="13421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213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cubicBezTo>
                    <a:pt x="1041654" y="0"/>
                    <a:pt x="1342136" y="300482"/>
                    <a:pt x="1342136" y="671068"/>
                  </a:cubicBezTo>
                  <a:cubicBezTo>
                    <a:pt x="1342136" y="1041654"/>
                    <a:pt x="1041654" y="1342136"/>
                    <a:pt x="671068" y="1342136"/>
                  </a:cubicBez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0A3496"/>
            </a:solidFill>
            <a:ln w="19050" cap="sq">
              <a:solidFill>
                <a:srgbClr val="0A349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816783" y="4175703"/>
            <a:ext cx="454276" cy="454276"/>
            <a:chOff x="0" y="0"/>
            <a:chExt cx="605701" cy="605701"/>
          </a:xfrm>
        </p:grpSpPr>
        <p:sp>
          <p:nvSpPr>
            <p:cNvPr name="Freeform 43" id="43" descr="/home/yousefmsm1/Desktop/ICPC HUE - Canva Template Kit/pptx_build/i_book_w.png"/>
            <p:cNvSpPr/>
            <p:nvPr/>
          </p:nvSpPr>
          <p:spPr>
            <a:xfrm flipH="false" flipV="false" rot="0">
              <a:off x="0" y="0"/>
              <a:ext cx="605663" cy="605663"/>
            </a:xfrm>
            <a:custGeom>
              <a:avLst/>
              <a:gdLst/>
              <a:ahLst/>
              <a:cxnLst/>
              <a:rect r="r" b="b" t="t" l="l"/>
              <a:pathLst>
                <a:path h="605663" w="605663">
                  <a:moveTo>
                    <a:pt x="0" y="0"/>
                  </a:moveTo>
                  <a:lnTo>
                    <a:pt x="605663" y="0"/>
                  </a:lnTo>
                  <a:lnTo>
                    <a:pt x="605663" y="605663"/>
                  </a:lnTo>
                  <a:lnTo>
                    <a:pt x="0" y="605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6" b="-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550140" y="5143500"/>
            <a:ext cx="4389120" cy="480060"/>
            <a:chOff x="0" y="0"/>
            <a:chExt cx="585216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852160" cy="640080"/>
            </a:xfrm>
            <a:custGeom>
              <a:avLst/>
              <a:gdLst/>
              <a:ahLst/>
              <a:cxnLst/>
              <a:rect r="r" b="b" t="t" l="l"/>
              <a:pathLst>
                <a:path h="640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8521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FRIDAY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550140" y="5623560"/>
            <a:ext cx="4389120" cy="822960"/>
            <a:chOff x="0" y="0"/>
            <a:chExt cx="585216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52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58521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1B3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Upsolve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2550140" y="6457950"/>
            <a:ext cx="4389120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B6785"/>
                </a:solidFill>
                <a:latin typeface="Calibri (MS)"/>
                <a:ea typeface="Calibri (MS)"/>
                <a:cs typeface="Calibri (MS)"/>
                <a:sym typeface="Calibri (MS)"/>
              </a:rPr>
              <a:t>Solve what you missed, with a recorded walkthrough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822960" y="9532620"/>
            <a:ext cx="16641623" cy="411480"/>
            <a:chOff x="0" y="0"/>
            <a:chExt cx="2218883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188830" cy="548640"/>
            </a:xfrm>
            <a:custGeom>
              <a:avLst/>
              <a:gdLst/>
              <a:ahLst/>
              <a:cxnLst/>
              <a:rect r="r" b="b" t="t" l="l"/>
              <a:pathLst>
                <a:path h="54864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039" r="0" b="-73803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218883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7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Missing 3 contests or 3 sessions = ban.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6458743" y="41910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B1B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11480"/>
            <a:ext cx="822960" cy="548640"/>
            <a:chOff x="0" y="0"/>
            <a:chExt cx="1097280" cy="731520"/>
          </a:xfrm>
        </p:grpSpPr>
        <p:sp>
          <p:nvSpPr>
            <p:cNvPr name="Freeform 3" id="3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0" t="0" r="-55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2940">
            <a:off x="815816" y="1202246"/>
            <a:ext cx="16655920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977640" y="411480"/>
            <a:ext cx="8229600" cy="548640"/>
            <a:chOff x="0" y="0"/>
            <a:chExt cx="10972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972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5B67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TODAY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440180"/>
            <a:ext cx="16641623" cy="1165860"/>
            <a:chOff x="0" y="0"/>
            <a:chExt cx="2218883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883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131" r="0" b="-2281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8883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1B3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Today's plan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22960" y="2540508"/>
            <a:ext cx="16641623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785"/>
                </a:solidFill>
                <a:latin typeface="Calibri (MS)"/>
                <a:ea typeface="Calibri (MS)"/>
                <a:cs typeface="Calibri (MS)"/>
                <a:sym typeface="Calibri (MS)"/>
              </a:rPr>
              <a:t>Four short parts, about 85 minutes.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3435" y="3488055"/>
            <a:ext cx="704850" cy="704850"/>
            <a:chOff x="0" y="0"/>
            <a:chExt cx="939800" cy="939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CB2B"/>
            </a:solidFill>
            <a:ln w="19050" cap="sq">
              <a:solidFill>
                <a:srgbClr val="FFCB2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3497580"/>
            <a:ext cx="685800" cy="685800"/>
            <a:chOff x="0" y="0"/>
            <a:chExt cx="9144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51660" y="3401568"/>
            <a:ext cx="9944100" cy="411480"/>
            <a:chOff x="0" y="0"/>
            <a:chExt cx="132588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25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0888" r="0" b="-42088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325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 MIN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51660" y="3799332"/>
            <a:ext cx="9944100" cy="548640"/>
            <a:chOff x="0" y="0"/>
            <a:chExt cx="132588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25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166" r="0" b="-30316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3258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0B1B3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 solving &amp; competitive programming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rot="4920">
            <a:off x="1844507" y="4672394"/>
            <a:ext cx="9958397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813435" y="4928235"/>
            <a:ext cx="704850" cy="704850"/>
            <a:chOff x="0" y="0"/>
            <a:chExt cx="939800" cy="939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EEF2FA"/>
            </a:solidFill>
            <a:ln w="19050" cap="sq">
              <a:solidFill>
                <a:srgbClr val="EEF2F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4937760"/>
            <a:ext cx="685800" cy="685800"/>
            <a:chOff x="0" y="0"/>
            <a:chExt cx="91440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B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51660" y="4841748"/>
            <a:ext cx="9944100" cy="411480"/>
            <a:chOff x="0" y="0"/>
            <a:chExt cx="1325880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25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0888" r="0" b="-42088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325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 MIN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51660" y="5239512"/>
            <a:ext cx="9944100" cy="548640"/>
            <a:chOff x="0" y="0"/>
            <a:chExt cx="1325880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25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166" r="0" b="-30316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3258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0B1B3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Our tools: icpchue.com · VS Code · Codeforces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rot="4920">
            <a:off x="1844507" y="6112574"/>
            <a:ext cx="9958397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813435" y="6368415"/>
            <a:ext cx="704850" cy="704850"/>
            <a:chOff x="0" y="0"/>
            <a:chExt cx="939800" cy="939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EEF2FA"/>
            </a:solidFill>
            <a:ln w="19050" cap="sq">
              <a:solidFill>
                <a:srgbClr val="EEF2FA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6377940"/>
            <a:ext cx="685800" cy="685800"/>
            <a:chOff x="0" y="0"/>
            <a:chExt cx="9144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B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851660" y="6281928"/>
            <a:ext cx="9944100" cy="411480"/>
            <a:chOff x="0" y="0"/>
            <a:chExt cx="132588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25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0888" r="0" b="-42088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325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30 MIN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851660" y="6679692"/>
            <a:ext cx="9944100" cy="548640"/>
            <a:chOff x="0" y="0"/>
            <a:chExt cx="132588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25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166" r="0" b="-30316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3258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0B1B3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Input &amp; output, variables, data types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4920">
            <a:off x="1844507" y="7552754"/>
            <a:ext cx="9958397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813435" y="7808595"/>
            <a:ext cx="704850" cy="704850"/>
            <a:chOff x="0" y="0"/>
            <a:chExt cx="939800" cy="939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EEF2FA"/>
            </a:solidFill>
            <a:ln w="19050" cap="sq">
              <a:solidFill>
                <a:srgbClr val="EEF2F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7818120"/>
            <a:ext cx="685800" cy="685800"/>
            <a:chOff x="0" y="0"/>
            <a:chExt cx="91440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B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851660" y="7722108"/>
            <a:ext cx="9944100" cy="411480"/>
            <a:chOff x="0" y="0"/>
            <a:chExt cx="1325880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25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0888" r="0" b="-42088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325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30 MIN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851660" y="8119872"/>
            <a:ext cx="9944100" cy="548640"/>
            <a:chOff x="0" y="0"/>
            <a:chExt cx="132588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25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166" r="0" b="-30316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3258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0B1B3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Overflow, ASCII, operators &amp; conditions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748736" y="3421856"/>
            <a:ext cx="4718876" cy="5500688"/>
            <a:chOff x="0" y="0"/>
            <a:chExt cx="6291834" cy="73342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91834" cy="7334250"/>
            </a:xfrm>
            <a:custGeom>
              <a:avLst/>
              <a:gdLst/>
              <a:ahLst/>
              <a:cxnLst/>
              <a:rect r="r" b="b" t="t" l="l"/>
              <a:pathLst>
                <a:path h="7334250" w="6291834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6035040" y="0"/>
                  </a:lnTo>
                  <a:cubicBezTo>
                    <a:pt x="6176899" y="0"/>
                    <a:pt x="6291834" y="114935"/>
                    <a:pt x="6291834" y="256794"/>
                  </a:cubicBezTo>
                  <a:lnTo>
                    <a:pt x="6291834" y="7077456"/>
                  </a:lnTo>
                  <a:cubicBezTo>
                    <a:pt x="6291834" y="7219315"/>
                    <a:pt x="6176899" y="7334250"/>
                    <a:pt x="6035040" y="7334250"/>
                  </a:cubicBezTo>
                  <a:lnTo>
                    <a:pt x="256794" y="7334250"/>
                  </a:lnTo>
                  <a:cubicBezTo>
                    <a:pt x="114935" y="7334250"/>
                    <a:pt x="0" y="7219315"/>
                    <a:pt x="0" y="7077456"/>
                  </a:cubicBezTo>
                  <a:close/>
                </a:path>
              </a:pathLst>
            </a:custGeom>
            <a:solidFill>
              <a:srgbClr val="0A1230"/>
            </a:solidFill>
            <a:ln w="14288" cap="sq">
              <a:solidFill>
                <a:srgbClr val="0A1230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3167360" y="3840480"/>
            <a:ext cx="3977640" cy="480060"/>
            <a:chOff x="0" y="0"/>
            <a:chExt cx="5303520" cy="640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303520" cy="640080"/>
            </a:xfrm>
            <a:custGeom>
              <a:avLst/>
              <a:gdLst/>
              <a:ahLst/>
              <a:cxnLst/>
              <a:rect r="r" b="b" t="t" l="l"/>
              <a:pathLst>
                <a:path h="6400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53035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FCB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TODAY'S GOAL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3167360" y="4429125"/>
            <a:ext cx="3977640" cy="386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Leave with your accounts ready and your first program accepted.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458743" y="41910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B1B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11480"/>
            <a:ext cx="822960" cy="548640"/>
            <a:chOff x="0" y="0"/>
            <a:chExt cx="1097280" cy="731520"/>
          </a:xfrm>
        </p:grpSpPr>
        <p:sp>
          <p:nvSpPr>
            <p:cNvPr name="Freeform 3" id="3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0" t="0" r="-55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2940">
            <a:off x="815816" y="1202246"/>
            <a:ext cx="16655920" cy="0"/>
          </a:xfrm>
          <a:prstGeom prst="line">
            <a:avLst/>
          </a:prstGeom>
          <a:ln cap="rnd" w="9525">
            <a:solidFill>
              <a:srgbClr val="24305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22960" y="3166110"/>
            <a:ext cx="4114800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3200" b="true">
                <a:solidFill>
                  <a:srgbClr val="FFCB2B"/>
                </a:solidFill>
                <a:latin typeface="Arial Bold"/>
                <a:ea typeface="Arial Bold"/>
                <a:cs typeface="Arial Bold"/>
                <a:sym typeface="Arial Bold"/>
              </a:rPr>
              <a:t>00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4909185"/>
            <a:ext cx="15087600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sz="69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Why we're here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2960" y="6320790"/>
            <a:ext cx="1371600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A9B4D0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solving &amp; competitive programming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11480"/>
            <a:ext cx="822960" cy="548640"/>
            <a:chOff x="0" y="0"/>
            <a:chExt cx="1097280" cy="731520"/>
          </a:xfrm>
        </p:grpSpPr>
        <p:sp>
          <p:nvSpPr>
            <p:cNvPr name="Freeform 3" id="3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0" t="0" r="-55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2940">
            <a:off x="815816" y="1202246"/>
            <a:ext cx="16655920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977640" y="411480"/>
            <a:ext cx="8229600" cy="548640"/>
            <a:chOff x="0" y="0"/>
            <a:chExt cx="10972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972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5B67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SKILL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440180"/>
            <a:ext cx="16641623" cy="1165860"/>
            <a:chOff x="0" y="0"/>
            <a:chExt cx="2218883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883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131" r="0" b="-2281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8883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1B3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is problem solving?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22960" y="2540508"/>
            <a:ext cx="16641623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785"/>
                </a:solidFill>
                <a:latin typeface="Calibri (MS)"/>
                <a:ea typeface="Calibri (MS)"/>
                <a:cs typeface="Calibri (MS)"/>
                <a:sym typeface="Calibri (MS)"/>
              </a:rPr>
              <a:t>Turning a problem you've never seen into code that works, fast and correct.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5816" y="3421856"/>
            <a:ext cx="5226368" cy="3786188"/>
            <a:chOff x="0" y="0"/>
            <a:chExt cx="6968490" cy="5048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68490" cy="5048250"/>
            </a:xfrm>
            <a:custGeom>
              <a:avLst/>
              <a:gdLst/>
              <a:ahLst/>
              <a:cxnLst/>
              <a:rect r="r" b="b" t="t" l="l"/>
              <a:pathLst>
                <a:path h="5048250" w="6968490">
                  <a:moveTo>
                    <a:pt x="0" y="257048"/>
                  </a:moveTo>
                  <a:cubicBezTo>
                    <a:pt x="0" y="115062"/>
                    <a:pt x="115062" y="0"/>
                    <a:pt x="257048" y="0"/>
                  </a:cubicBezTo>
                  <a:lnTo>
                    <a:pt x="6711442" y="0"/>
                  </a:lnTo>
                  <a:cubicBezTo>
                    <a:pt x="6853428" y="0"/>
                    <a:pt x="6968490" y="115062"/>
                    <a:pt x="6968490" y="257048"/>
                  </a:cubicBezTo>
                  <a:lnTo>
                    <a:pt x="6968490" y="4791202"/>
                  </a:lnTo>
                  <a:cubicBezTo>
                    <a:pt x="6968490" y="4933188"/>
                    <a:pt x="6853428" y="5048250"/>
                    <a:pt x="6711442" y="5048250"/>
                  </a:cubicBezTo>
                  <a:lnTo>
                    <a:pt x="257048" y="5048250"/>
                  </a:lnTo>
                  <a:cubicBezTo>
                    <a:pt x="115062" y="5048250"/>
                    <a:pt x="0" y="4933188"/>
                    <a:pt x="0" y="479120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E9F5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93495" y="3858387"/>
            <a:ext cx="842010" cy="842010"/>
            <a:chOff x="0" y="0"/>
            <a:chExt cx="1122680" cy="1122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FFCB2B"/>
            </a:solidFill>
            <a:ln w="19050" cap="sq">
              <a:solidFill>
                <a:srgbClr val="FFCB2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03020" y="3867912"/>
            <a:ext cx="822960" cy="822960"/>
            <a:chOff x="0" y="0"/>
            <a:chExt cx="109728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2340" b="true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3020" y="5006340"/>
            <a:ext cx="4389120" cy="480060"/>
            <a:chOff x="0" y="0"/>
            <a:chExt cx="585216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52160" cy="640080"/>
            </a:xfrm>
            <a:custGeom>
              <a:avLst/>
              <a:gdLst/>
              <a:ahLst/>
              <a:cxnLst/>
              <a:rect r="r" b="b" t="t" l="l"/>
              <a:pathLst>
                <a:path h="640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585216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UNDERSTAND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03020" y="5507355"/>
            <a:ext cx="438912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B1B3F"/>
                </a:solidFill>
                <a:latin typeface="Calibri (MS)"/>
                <a:ea typeface="Calibri (MS)"/>
                <a:cs typeface="Calibri (MS)"/>
                <a:sym typeface="Calibri (MS)"/>
              </a:rPr>
              <a:t>Read carefully. What is the input? What do they want?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39376" y="3421856"/>
            <a:ext cx="5226368" cy="3786188"/>
            <a:chOff x="0" y="0"/>
            <a:chExt cx="6968490" cy="5048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68490" cy="5048250"/>
            </a:xfrm>
            <a:custGeom>
              <a:avLst/>
              <a:gdLst/>
              <a:ahLst/>
              <a:cxnLst/>
              <a:rect r="r" b="b" t="t" l="l"/>
              <a:pathLst>
                <a:path h="5048250" w="6968490">
                  <a:moveTo>
                    <a:pt x="0" y="257048"/>
                  </a:moveTo>
                  <a:cubicBezTo>
                    <a:pt x="0" y="115062"/>
                    <a:pt x="115062" y="0"/>
                    <a:pt x="257048" y="0"/>
                  </a:cubicBezTo>
                  <a:lnTo>
                    <a:pt x="6711442" y="0"/>
                  </a:lnTo>
                  <a:cubicBezTo>
                    <a:pt x="6853428" y="0"/>
                    <a:pt x="6968490" y="115062"/>
                    <a:pt x="6968490" y="257048"/>
                  </a:cubicBezTo>
                  <a:lnTo>
                    <a:pt x="6968490" y="4791202"/>
                  </a:lnTo>
                  <a:cubicBezTo>
                    <a:pt x="6968490" y="4933188"/>
                    <a:pt x="6853428" y="5048250"/>
                    <a:pt x="6711442" y="5048250"/>
                  </a:cubicBezTo>
                  <a:lnTo>
                    <a:pt x="257048" y="5048250"/>
                  </a:lnTo>
                  <a:cubicBezTo>
                    <a:pt x="115062" y="5048250"/>
                    <a:pt x="0" y="4933188"/>
                    <a:pt x="0" y="479120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E9F5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917055" y="3858387"/>
            <a:ext cx="842010" cy="842010"/>
            <a:chOff x="0" y="0"/>
            <a:chExt cx="1122680" cy="11226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EEF2FA"/>
            </a:solidFill>
            <a:ln w="19050" cap="sq">
              <a:solidFill>
                <a:srgbClr val="EEF2F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926580" y="3867912"/>
            <a:ext cx="822960" cy="822960"/>
            <a:chOff x="0" y="0"/>
            <a:chExt cx="109728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2340" b="true">
                  <a:solidFill>
                    <a:srgbClr val="0B1B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926580" y="5006340"/>
            <a:ext cx="4389120" cy="480060"/>
            <a:chOff x="0" y="0"/>
            <a:chExt cx="585216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52160" cy="640080"/>
            </a:xfrm>
            <a:custGeom>
              <a:avLst/>
              <a:gdLst/>
              <a:ahLst/>
              <a:cxnLst/>
              <a:rect r="r" b="b" t="t" l="l"/>
              <a:pathLst>
                <a:path h="640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585216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THINK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926580" y="5507355"/>
            <a:ext cx="438912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B1B3F"/>
                </a:solidFill>
                <a:latin typeface="Calibri (MS)"/>
                <a:ea typeface="Calibri (MS)"/>
                <a:cs typeface="Calibri (MS)"/>
                <a:sym typeface="Calibri (MS)"/>
              </a:rPr>
              <a:t>Find the idea (the algorithm) on paper before coding.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062936" y="3421856"/>
            <a:ext cx="5226368" cy="3786188"/>
            <a:chOff x="0" y="0"/>
            <a:chExt cx="6968490" cy="50482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68490" cy="5048250"/>
            </a:xfrm>
            <a:custGeom>
              <a:avLst/>
              <a:gdLst/>
              <a:ahLst/>
              <a:cxnLst/>
              <a:rect r="r" b="b" t="t" l="l"/>
              <a:pathLst>
                <a:path h="5048250" w="6968490">
                  <a:moveTo>
                    <a:pt x="0" y="257048"/>
                  </a:moveTo>
                  <a:cubicBezTo>
                    <a:pt x="0" y="115062"/>
                    <a:pt x="115062" y="0"/>
                    <a:pt x="257048" y="0"/>
                  </a:cubicBezTo>
                  <a:lnTo>
                    <a:pt x="6711442" y="0"/>
                  </a:lnTo>
                  <a:cubicBezTo>
                    <a:pt x="6853428" y="0"/>
                    <a:pt x="6968490" y="115062"/>
                    <a:pt x="6968490" y="257048"/>
                  </a:cubicBezTo>
                  <a:lnTo>
                    <a:pt x="6968490" y="4791202"/>
                  </a:lnTo>
                  <a:cubicBezTo>
                    <a:pt x="6968490" y="4933188"/>
                    <a:pt x="6853428" y="5048250"/>
                    <a:pt x="6711442" y="5048250"/>
                  </a:cubicBezTo>
                  <a:lnTo>
                    <a:pt x="257048" y="5048250"/>
                  </a:lnTo>
                  <a:cubicBezTo>
                    <a:pt x="115062" y="5048250"/>
                    <a:pt x="0" y="4933188"/>
                    <a:pt x="0" y="479120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E9F5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540615" y="3858387"/>
            <a:ext cx="842010" cy="842010"/>
            <a:chOff x="0" y="0"/>
            <a:chExt cx="1122680" cy="1122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EEF2FA"/>
            </a:solidFill>
            <a:ln w="19050" cap="sq">
              <a:solidFill>
                <a:srgbClr val="EEF2FA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550140" y="3867912"/>
            <a:ext cx="822960" cy="822960"/>
            <a:chOff x="0" y="0"/>
            <a:chExt cx="109728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2340" b="true">
                  <a:solidFill>
                    <a:srgbClr val="0B1B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550140" y="5006340"/>
            <a:ext cx="4389120" cy="480060"/>
            <a:chOff x="0" y="0"/>
            <a:chExt cx="5852160" cy="640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852160" cy="640080"/>
            </a:xfrm>
            <a:custGeom>
              <a:avLst/>
              <a:gdLst/>
              <a:ahLst/>
              <a:cxnLst/>
              <a:rect r="r" b="b" t="t" l="l"/>
              <a:pathLst>
                <a:path h="640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85216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CODE &amp; TEST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2550140" y="5507355"/>
            <a:ext cx="438912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B1B3F"/>
                </a:solidFill>
                <a:latin typeface="Calibri (MS)"/>
                <a:ea typeface="Calibri (MS)"/>
                <a:cs typeface="Calibri (MS)"/>
                <a:sym typeface="Calibri (MS)"/>
              </a:rPr>
              <a:t>Write it, try the samples and tricky cases, submit.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15816" y="7536656"/>
            <a:ext cx="16655910" cy="1317308"/>
            <a:chOff x="0" y="0"/>
            <a:chExt cx="22207880" cy="175641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207855" cy="1756410"/>
            </a:xfrm>
            <a:custGeom>
              <a:avLst/>
              <a:gdLst/>
              <a:ahLst/>
              <a:cxnLst/>
              <a:rect r="r" b="b" t="t" l="l"/>
              <a:pathLst>
                <a:path h="1756410" w="22207855">
                  <a:moveTo>
                    <a:pt x="0" y="258826"/>
                  </a:moveTo>
                  <a:cubicBezTo>
                    <a:pt x="0" y="115951"/>
                    <a:pt x="115951" y="0"/>
                    <a:pt x="258826" y="0"/>
                  </a:cubicBezTo>
                  <a:lnTo>
                    <a:pt x="21949029" y="0"/>
                  </a:lnTo>
                  <a:cubicBezTo>
                    <a:pt x="22092031" y="0"/>
                    <a:pt x="22207855" y="115951"/>
                    <a:pt x="22207855" y="258826"/>
                  </a:cubicBezTo>
                  <a:lnTo>
                    <a:pt x="22207855" y="1497584"/>
                  </a:lnTo>
                  <a:cubicBezTo>
                    <a:pt x="22207855" y="1640586"/>
                    <a:pt x="22091904" y="1756410"/>
                    <a:pt x="21949029" y="1756410"/>
                  </a:cubicBezTo>
                  <a:lnTo>
                    <a:pt x="258826" y="1756410"/>
                  </a:lnTo>
                  <a:cubicBezTo>
                    <a:pt x="115951" y="1756410"/>
                    <a:pt x="0" y="1640459"/>
                    <a:pt x="0" y="1497584"/>
                  </a:cubicBezTo>
                  <a:close/>
                </a:path>
              </a:pathLst>
            </a:custGeom>
            <a:solidFill>
              <a:srgbClr val="0A1230"/>
            </a:solidFill>
            <a:ln w="14288" cap="sq">
              <a:solidFill>
                <a:srgbClr val="0A1230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303020" y="7543800"/>
            <a:ext cx="3291840" cy="1303020"/>
            <a:chOff x="0" y="0"/>
            <a:chExt cx="4389120" cy="1737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389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6" t="0" r="-786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389120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FCB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IT MATTERS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663440" y="7543800"/>
            <a:ext cx="12344400" cy="1303020"/>
            <a:chOff x="0" y="0"/>
            <a:chExt cx="16459200" cy="1737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64592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16459200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Interviews at Google, Microsoft, Amazon and noon are problem-solving questions.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6458743" y="41910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B1B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11480"/>
            <a:ext cx="822960" cy="548640"/>
            <a:chOff x="0" y="0"/>
            <a:chExt cx="1097280" cy="731520"/>
          </a:xfrm>
        </p:grpSpPr>
        <p:sp>
          <p:nvSpPr>
            <p:cNvPr name="Freeform 3" id="3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0" t="0" r="-55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2940">
            <a:off x="815816" y="1202246"/>
            <a:ext cx="16655920" cy="0"/>
          </a:xfrm>
          <a:prstGeom prst="line">
            <a:avLst/>
          </a:prstGeom>
          <a:ln cap="rnd" w="9525">
            <a:solidFill>
              <a:srgbClr val="2430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977640" y="411480"/>
            <a:ext cx="8229600" cy="548640"/>
            <a:chOff x="0" y="0"/>
            <a:chExt cx="10972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972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9B4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SPORT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440180"/>
            <a:ext cx="16641623" cy="1165860"/>
            <a:chOff x="0" y="0"/>
            <a:chExt cx="2218883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883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131" r="0" b="-2281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8883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is competitive programming?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22960" y="2540508"/>
            <a:ext cx="16641623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9B4D0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solving as a sport: a set of problems, a clock, and a judge that checks your code instantly.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3435" y="3488055"/>
            <a:ext cx="704850" cy="704850"/>
            <a:chOff x="0" y="0"/>
            <a:chExt cx="939800" cy="939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CB2B"/>
            </a:solidFill>
            <a:ln w="19050" cap="sq">
              <a:solidFill>
                <a:srgbClr val="FFCB2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3497580"/>
            <a:ext cx="685800" cy="685800"/>
            <a:chOff x="0" y="0"/>
            <a:chExt cx="9144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51660" y="3401568"/>
            <a:ext cx="7200900" cy="411480"/>
            <a:chOff x="0" y="0"/>
            <a:chExt cx="96012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0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601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FFCB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51660" y="3799332"/>
            <a:ext cx="7200900" cy="548640"/>
            <a:chOff x="0" y="0"/>
            <a:chExt cx="96012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0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60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5–13 problems, easy → hard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rot="6780">
            <a:off x="1844507" y="4672394"/>
            <a:ext cx="7215197" cy="0"/>
          </a:xfrm>
          <a:prstGeom prst="line">
            <a:avLst/>
          </a:prstGeom>
          <a:ln cap="rnd" w="9525">
            <a:solidFill>
              <a:srgbClr val="2430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813435" y="4928235"/>
            <a:ext cx="704850" cy="704850"/>
            <a:chOff x="0" y="0"/>
            <a:chExt cx="939800" cy="939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7224A"/>
            </a:solidFill>
            <a:ln w="19050" cap="sq">
              <a:solidFill>
                <a:srgbClr val="17224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4937760"/>
            <a:ext cx="685800" cy="685800"/>
            <a:chOff x="0" y="0"/>
            <a:chExt cx="91440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51660" y="4841748"/>
            <a:ext cx="7200900" cy="411480"/>
            <a:chOff x="0" y="0"/>
            <a:chExt cx="960120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0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9601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FFCB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TIME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51660" y="5239512"/>
            <a:ext cx="7200900" cy="548640"/>
            <a:chOff x="0" y="0"/>
            <a:chExt cx="960120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60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60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to 5 hours per contest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rot="6780">
            <a:off x="1844507" y="6112574"/>
            <a:ext cx="7215197" cy="0"/>
          </a:xfrm>
          <a:prstGeom prst="line">
            <a:avLst/>
          </a:prstGeom>
          <a:ln cap="rnd" w="9525">
            <a:solidFill>
              <a:srgbClr val="2430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813435" y="6368415"/>
            <a:ext cx="704850" cy="704850"/>
            <a:chOff x="0" y="0"/>
            <a:chExt cx="939800" cy="939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7224A"/>
            </a:solidFill>
            <a:ln w="19050" cap="sq">
              <a:solidFill>
                <a:srgbClr val="17224A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6377940"/>
            <a:ext cx="685800" cy="685800"/>
            <a:chOff x="0" y="0"/>
            <a:chExt cx="9144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851660" y="6281928"/>
            <a:ext cx="7200900" cy="411480"/>
            <a:chOff x="0" y="0"/>
            <a:chExt cx="96012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60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9601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FFCB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JUDGE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851660" y="6679692"/>
            <a:ext cx="7200900" cy="548640"/>
            <a:chOff x="0" y="0"/>
            <a:chExt cx="96012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60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60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 = correct · WA / TLE = try again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6780">
            <a:off x="1844507" y="7552754"/>
            <a:ext cx="7215197" cy="0"/>
          </a:xfrm>
          <a:prstGeom prst="line">
            <a:avLst/>
          </a:prstGeom>
          <a:ln cap="rnd" w="9525">
            <a:solidFill>
              <a:srgbClr val="2430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813435" y="7808595"/>
            <a:ext cx="704850" cy="704850"/>
            <a:chOff x="0" y="0"/>
            <a:chExt cx="939800" cy="939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7224A"/>
            </a:solidFill>
            <a:ln w="19050" cap="sq">
              <a:solidFill>
                <a:srgbClr val="17224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7818120"/>
            <a:ext cx="685800" cy="685800"/>
            <a:chOff x="0" y="0"/>
            <a:chExt cx="91440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851660" y="7722108"/>
            <a:ext cx="7200900" cy="411480"/>
            <a:chOff x="0" y="0"/>
            <a:chExt cx="960120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60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9601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FFCB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RANKING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851660" y="8119872"/>
            <a:ext cx="7200900" cy="548640"/>
            <a:chOff x="0" y="0"/>
            <a:chExt cx="96012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60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60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More solved, less time = higher rank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005536" y="3421856"/>
            <a:ext cx="7462075" cy="5706428"/>
            <a:chOff x="0" y="0"/>
            <a:chExt cx="9949434" cy="760857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949434" cy="7608570"/>
            </a:xfrm>
            <a:custGeom>
              <a:avLst/>
              <a:gdLst/>
              <a:ahLst/>
              <a:cxnLst/>
              <a:rect r="r" b="b" t="t" l="l"/>
              <a:pathLst>
                <a:path h="7608570" w="9949434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9692767" y="0"/>
                  </a:lnTo>
                  <a:cubicBezTo>
                    <a:pt x="9834499" y="0"/>
                    <a:pt x="9949434" y="114935"/>
                    <a:pt x="9949434" y="256667"/>
                  </a:cubicBezTo>
                  <a:lnTo>
                    <a:pt x="9949434" y="7351903"/>
                  </a:lnTo>
                  <a:cubicBezTo>
                    <a:pt x="9949434" y="7493635"/>
                    <a:pt x="9834499" y="7608570"/>
                    <a:pt x="9692767" y="7608570"/>
                  </a:cubicBezTo>
                  <a:lnTo>
                    <a:pt x="256667" y="7608570"/>
                  </a:lnTo>
                  <a:cubicBezTo>
                    <a:pt x="114935" y="7608570"/>
                    <a:pt x="0" y="7493635"/>
                    <a:pt x="0" y="7351903"/>
                  </a:cubicBezTo>
                  <a:close/>
                </a:path>
              </a:pathLst>
            </a:custGeom>
            <a:solidFill>
              <a:srgbClr val="121C40"/>
            </a:solidFill>
            <a:ln w="14288" cap="sq">
              <a:solidFill>
                <a:srgbClr val="24305C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0492740" y="3771900"/>
            <a:ext cx="6583680" cy="480060"/>
            <a:chOff x="0" y="0"/>
            <a:chExt cx="8778240" cy="640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778240" cy="640080"/>
            </a:xfrm>
            <a:custGeom>
              <a:avLst/>
              <a:gdLst/>
              <a:ahLst/>
              <a:cxnLst/>
              <a:rect r="r" b="b" t="t" l="l"/>
              <a:pathLst>
                <a:path h="6400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223" r="0" b="-21722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87782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FCB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ICPC ROAD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551795" y="4585335"/>
            <a:ext cx="704850" cy="704850"/>
            <a:chOff x="0" y="0"/>
            <a:chExt cx="939800" cy="939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7224A"/>
            </a:solidFill>
            <a:ln w="19050" cap="sq">
              <a:solidFill>
                <a:srgbClr val="17224A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0561320" y="4594860"/>
            <a:ext cx="685800" cy="685800"/>
            <a:chOff x="0" y="0"/>
            <a:chExt cx="914400" cy="914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AutoShape 69" id="69"/>
          <p:cNvSpPr/>
          <p:nvPr/>
        </p:nvSpPr>
        <p:spPr>
          <a:xfrm rot="5237640">
            <a:off x="10601563" y="5627751"/>
            <a:ext cx="605323" cy="0"/>
          </a:xfrm>
          <a:prstGeom prst="line">
            <a:avLst/>
          </a:prstGeom>
          <a:ln cap="rnd" w="19050">
            <a:solidFill>
              <a:srgbClr val="FFC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0" id="70"/>
          <p:cNvGrpSpPr/>
          <p:nvPr/>
        </p:nvGrpSpPr>
        <p:grpSpPr>
          <a:xfrm rot="0">
            <a:off x="11590020" y="4567428"/>
            <a:ext cx="5486400" cy="521208"/>
            <a:chOff x="0" y="0"/>
            <a:chExt cx="7315200" cy="69494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315200" cy="694944"/>
            </a:xfrm>
            <a:custGeom>
              <a:avLst/>
              <a:gdLst/>
              <a:ahLst/>
              <a:cxnLst/>
              <a:rect r="r" b="b" t="t" l="l"/>
              <a:pathLst>
                <a:path h="6949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7315200" cy="752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ECPC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590020" y="5047488"/>
            <a:ext cx="5486400" cy="411480"/>
            <a:chOff x="0" y="0"/>
            <a:chExt cx="731520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73152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A9B4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Egypt · university teams of 3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551795" y="5956935"/>
            <a:ext cx="704850" cy="704850"/>
            <a:chOff x="0" y="0"/>
            <a:chExt cx="939800" cy="9398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7224A"/>
            </a:solidFill>
            <a:ln w="19050" cap="sq">
              <a:solidFill>
                <a:srgbClr val="17224A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0561320" y="5966460"/>
            <a:ext cx="685800" cy="685800"/>
            <a:chOff x="0" y="0"/>
            <a:chExt cx="914400" cy="9144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AutoShape 81" id="81"/>
          <p:cNvSpPr/>
          <p:nvPr/>
        </p:nvSpPr>
        <p:spPr>
          <a:xfrm rot="5237640">
            <a:off x="10601563" y="6999351"/>
            <a:ext cx="605323" cy="0"/>
          </a:xfrm>
          <a:prstGeom prst="line">
            <a:avLst/>
          </a:prstGeom>
          <a:ln cap="rnd" w="19050">
            <a:solidFill>
              <a:srgbClr val="FFC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2" id="82"/>
          <p:cNvGrpSpPr/>
          <p:nvPr/>
        </p:nvGrpSpPr>
        <p:grpSpPr>
          <a:xfrm rot="0">
            <a:off x="11590020" y="5939028"/>
            <a:ext cx="5486400" cy="521208"/>
            <a:chOff x="0" y="0"/>
            <a:chExt cx="7315200" cy="69494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315200" cy="694944"/>
            </a:xfrm>
            <a:custGeom>
              <a:avLst/>
              <a:gdLst/>
              <a:ahLst/>
              <a:cxnLst/>
              <a:rect r="r" b="b" t="t" l="l"/>
              <a:pathLst>
                <a:path h="6949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7315200" cy="752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ACPC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590020" y="6419088"/>
            <a:ext cx="5486400" cy="411480"/>
            <a:chOff x="0" y="0"/>
            <a:chExt cx="731520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73152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A9B4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Africa &amp; Arab region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551795" y="7328535"/>
            <a:ext cx="704850" cy="704850"/>
            <a:chOff x="0" y="0"/>
            <a:chExt cx="939800" cy="9398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CB2B"/>
            </a:solidFill>
            <a:ln w="19050" cap="sq">
              <a:solidFill>
                <a:srgbClr val="FFCB2B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0561320" y="7338060"/>
            <a:ext cx="685800" cy="685800"/>
            <a:chOff x="0" y="0"/>
            <a:chExt cx="914400" cy="9144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590020" y="7310628"/>
            <a:ext cx="5486400" cy="521208"/>
            <a:chOff x="0" y="0"/>
            <a:chExt cx="7315200" cy="69494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315200" cy="694944"/>
            </a:xfrm>
            <a:custGeom>
              <a:avLst/>
              <a:gdLst/>
              <a:ahLst/>
              <a:cxnLst/>
              <a:rect r="r" b="b" t="t" l="l"/>
              <a:pathLst>
                <a:path h="6949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57150"/>
              <a:ext cx="7315200" cy="752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ICPC World Finals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1590020" y="7790688"/>
            <a:ext cx="5486400" cy="411480"/>
            <a:chOff x="0" y="0"/>
            <a:chExt cx="7315200" cy="5486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73152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A9B4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best teams on the planet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0492740" y="8366760"/>
            <a:ext cx="6583680" cy="548640"/>
            <a:chOff x="0" y="0"/>
            <a:chExt cx="8778240" cy="73152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879"/>
                </a:lnSpc>
              </a:pP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16458743" y="41910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11480"/>
            <a:ext cx="822960" cy="548640"/>
            <a:chOff x="0" y="0"/>
            <a:chExt cx="1097280" cy="731520"/>
          </a:xfrm>
        </p:grpSpPr>
        <p:sp>
          <p:nvSpPr>
            <p:cNvPr name="Freeform 3" id="3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0" t="0" r="-55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2940">
            <a:off x="815816" y="1202246"/>
            <a:ext cx="16655920" cy="0"/>
          </a:xfrm>
          <a:prstGeom prst="line">
            <a:avLst/>
          </a:prstGeom>
          <a:ln cap="rnd" w="9525">
            <a:solidFill>
              <a:srgbClr val="24305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22960" y="3166110"/>
            <a:ext cx="4114800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3200" b="true">
                <a:solidFill>
                  <a:srgbClr val="FFCB2B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4909185"/>
            <a:ext cx="15087600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sz="69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Our tools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2960" y="6320790"/>
            <a:ext cx="1371600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A9B4D0"/>
                </a:solidFill>
                <a:latin typeface="Calibri (MS)"/>
                <a:ea typeface="Calibri (MS)"/>
                <a:cs typeface="Calibri (MS)"/>
                <a:sym typeface="Calibri (MS)"/>
              </a:rPr>
              <a:t>Where you learn, where you code, where you submit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11480"/>
            <a:ext cx="822960" cy="548640"/>
            <a:chOff x="0" y="0"/>
            <a:chExt cx="1097280" cy="731520"/>
          </a:xfrm>
        </p:grpSpPr>
        <p:sp>
          <p:nvSpPr>
            <p:cNvPr name="Freeform 3" id="3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0" t="0" r="-55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2940">
            <a:off x="815816" y="1202246"/>
            <a:ext cx="16655920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977640" y="411480"/>
            <a:ext cx="8229600" cy="548640"/>
            <a:chOff x="0" y="0"/>
            <a:chExt cx="10972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972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5B67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HOME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440180"/>
            <a:ext cx="16641623" cy="1165860"/>
            <a:chOff x="0" y="0"/>
            <a:chExt cx="2218883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883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131" r="0" b="-2281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8883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1B3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icpchue.com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22960" y="2540508"/>
            <a:ext cx="16641623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785"/>
                </a:solidFill>
                <a:latin typeface="Calibri (MS)"/>
                <a:ea typeface="Calibri (MS)"/>
                <a:cs typeface="Calibri (MS)"/>
                <a:sym typeface="Calibri (MS)"/>
              </a:rPr>
              <a:t>Sheets, recordings and your progress, all in one place.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5816" y="3353276"/>
            <a:ext cx="6872288" cy="864680"/>
            <a:chOff x="0" y="0"/>
            <a:chExt cx="9163050" cy="11529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63050" cy="1152906"/>
            </a:xfrm>
            <a:custGeom>
              <a:avLst/>
              <a:gdLst/>
              <a:ahLst/>
              <a:cxnLst/>
              <a:rect r="r" b="b" t="t" l="l"/>
              <a:pathLst>
                <a:path h="1152906" w="9163050">
                  <a:moveTo>
                    <a:pt x="0" y="260350"/>
                  </a:moveTo>
                  <a:cubicBezTo>
                    <a:pt x="0" y="116586"/>
                    <a:pt x="116586" y="0"/>
                    <a:pt x="260350" y="0"/>
                  </a:cubicBezTo>
                  <a:lnTo>
                    <a:pt x="8902700" y="0"/>
                  </a:lnTo>
                  <a:cubicBezTo>
                    <a:pt x="9046464" y="0"/>
                    <a:pt x="9163050" y="116586"/>
                    <a:pt x="9163050" y="260350"/>
                  </a:cubicBezTo>
                  <a:lnTo>
                    <a:pt x="9163050" y="892556"/>
                  </a:lnTo>
                  <a:cubicBezTo>
                    <a:pt x="9163050" y="1036320"/>
                    <a:pt x="9046464" y="1152906"/>
                    <a:pt x="8902700" y="1152906"/>
                  </a:cubicBezTo>
                  <a:lnTo>
                    <a:pt x="260350" y="1152906"/>
                  </a:lnTo>
                  <a:cubicBezTo>
                    <a:pt x="116586" y="1152906"/>
                    <a:pt x="0" y="1036320"/>
                    <a:pt x="0" y="892556"/>
                  </a:cubicBezTo>
                  <a:close/>
                </a:path>
              </a:pathLst>
            </a:custGeom>
            <a:solidFill>
              <a:srgbClr val="FFCB2B"/>
            </a:solidFill>
            <a:ln w="14288" cap="sq">
              <a:solidFill>
                <a:srgbClr val="FFCB2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" y="3360420"/>
            <a:ext cx="6309360" cy="850392"/>
            <a:chOff x="0" y="0"/>
            <a:chExt cx="841248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12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566" r="0" b="-9456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412480" cy="11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50" u="sng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4" tooltip="https://www.icpchue.com"/>
                </a:rPr>
                <a:t>www.icpchue.com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3435" y="4722495"/>
            <a:ext cx="704850" cy="704850"/>
            <a:chOff x="0" y="0"/>
            <a:chExt cx="939800" cy="939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CB2B"/>
            </a:solidFill>
            <a:ln w="19050" cap="sq">
              <a:solidFill>
                <a:srgbClr val="FFCB2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4732020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851660" y="4636008"/>
            <a:ext cx="5829300" cy="411480"/>
            <a:chOff x="0" y="0"/>
            <a:chExt cx="7772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77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777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ACCOUNT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851660" y="5033772"/>
            <a:ext cx="5829300" cy="548640"/>
            <a:chOff x="0" y="0"/>
            <a:chExt cx="77724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77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77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0B1B3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 up with your real name and student ID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8400">
            <a:off x="1844507" y="5769674"/>
            <a:ext cx="5843607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813435" y="6025515"/>
            <a:ext cx="704850" cy="704850"/>
            <a:chOff x="0" y="0"/>
            <a:chExt cx="939800" cy="939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EEF2FA"/>
            </a:solidFill>
            <a:ln w="19050" cap="sq">
              <a:solidFill>
                <a:srgbClr val="EEF2FA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6035040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B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851660" y="5939028"/>
            <a:ext cx="5829300" cy="411480"/>
            <a:chOff x="0" y="0"/>
            <a:chExt cx="777240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7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777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WEEKLY SHEETS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851660" y="6336792"/>
            <a:ext cx="5829300" cy="548640"/>
            <a:chOff x="0" y="0"/>
            <a:chExt cx="777240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77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777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0B1B3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sheet every session, easy → hard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8400">
            <a:off x="1844507" y="7072694"/>
            <a:ext cx="5843607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813435" y="7328535"/>
            <a:ext cx="704850" cy="704850"/>
            <a:chOff x="0" y="0"/>
            <a:chExt cx="939800" cy="939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EEF2FA"/>
            </a:solidFill>
            <a:ln w="19050" cap="sq">
              <a:solidFill>
                <a:srgbClr val="EEF2FA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822960" y="7338060"/>
            <a:ext cx="685800" cy="685800"/>
            <a:chOff x="0" y="0"/>
            <a:chExt cx="9144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B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851660" y="7242048"/>
            <a:ext cx="5829300" cy="411480"/>
            <a:chOff x="0" y="0"/>
            <a:chExt cx="77724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77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777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851660" y="7639812"/>
            <a:ext cx="5829300" cy="548640"/>
            <a:chOff x="0" y="0"/>
            <a:chExt cx="777240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77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777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0B1B3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Leaderboard, achievements, recordings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359616" y="3353276"/>
            <a:ext cx="9204007" cy="4802029"/>
            <a:chOff x="0" y="0"/>
            <a:chExt cx="12272010" cy="640270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272010" cy="6402705"/>
            </a:xfrm>
            <a:custGeom>
              <a:avLst/>
              <a:gdLst/>
              <a:ahLst/>
              <a:cxnLst/>
              <a:rect r="r" b="b" t="t" l="l"/>
              <a:pathLst>
                <a:path h="6402705" w="12272010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12015216" y="0"/>
                  </a:lnTo>
                  <a:cubicBezTo>
                    <a:pt x="12157075" y="0"/>
                    <a:pt x="12272010" y="114935"/>
                    <a:pt x="12272010" y="256794"/>
                  </a:cubicBezTo>
                  <a:lnTo>
                    <a:pt x="12272010" y="6145911"/>
                  </a:lnTo>
                  <a:cubicBezTo>
                    <a:pt x="12272010" y="6287770"/>
                    <a:pt x="12157075" y="6402705"/>
                    <a:pt x="12015216" y="6402705"/>
                  </a:cubicBezTo>
                  <a:lnTo>
                    <a:pt x="256794" y="6402705"/>
                  </a:lnTo>
                  <a:cubicBezTo>
                    <a:pt x="114935" y="6402705"/>
                    <a:pt x="0" y="6287770"/>
                    <a:pt x="0" y="614591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E9F5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8503920" y="3497580"/>
            <a:ext cx="8915400" cy="4513421"/>
            <a:chOff x="0" y="0"/>
            <a:chExt cx="11887200" cy="6017895"/>
          </a:xfrm>
        </p:grpSpPr>
        <p:sp>
          <p:nvSpPr>
            <p:cNvPr name="Freeform 55" id="55" descr="/home/yousefmsm1/Desktop/ICPC HUE - Canva Template Kit/pptx_build/shot_icpchue.png"/>
            <p:cNvSpPr/>
            <p:nvPr/>
          </p:nvSpPr>
          <p:spPr>
            <a:xfrm flipH="false" flipV="false" rot="0">
              <a:off x="0" y="0"/>
              <a:ext cx="11887200" cy="6017895"/>
            </a:xfrm>
            <a:custGeom>
              <a:avLst/>
              <a:gdLst/>
              <a:ahLst/>
              <a:cxnLst/>
              <a:rect r="r" b="b" t="t" l="l"/>
              <a:pathLst>
                <a:path h="6017895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017895"/>
                  </a:lnTo>
                  <a:lnTo>
                    <a:pt x="0" y="6017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6458743" y="41910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B1B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11480"/>
            <a:ext cx="822960" cy="548640"/>
            <a:chOff x="0" y="0"/>
            <a:chExt cx="1097280" cy="731520"/>
          </a:xfrm>
        </p:grpSpPr>
        <p:sp>
          <p:nvSpPr>
            <p:cNvPr name="Freeform 3" id="3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0" t="0" r="-55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2940">
            <a:off x="815816" y="1202246"/>
            <a:ext cx="16655920" cy="0"/>
          </a:xfrm>
          <a:prstGeom prst="line">
            <a:avLst/>
          </a:prstGeom>
          <a:ln cap="rnd" w="9525">
            <a:solidFill>
              <a:srgbClr val="2430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977640" y="411480"/>
            <a:ext cx="8229600" cy="548640"/>
            <a:chOff x="0" y="0"/>
            <a:chExt cx="10972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972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9B4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WHERE YOU CODE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440180"/>
            <a:ext cx="16641623" cy="1165860"/>
            <a:chOff x="0" y="0"/>
            <a:chExt cx="2218883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883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131" r="0" b="-2281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8883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VS Code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22960" y="2540508"/>
            <a:ext cx="16641623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9B4D0"/>
                </a:solidFill>
                <a:latin typeface="Calibri (MS)"/>
                <a:ea typeface="Calibri (MS)"/>
                <a:cs typeface="Calibri (MS)"/>
                <a:sym typeface="Calibri (MS)"/>
              </a:rPr>
              <a:t>A free editor plus a C++ compiler — that's your whole setup.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5816" y="3353276"/>
            <a:ext cx="6872288" cy="864680"/>
            <a:chOff x="0" y="0"/>
            <a:chExt cx="9163050" cy="11529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63050" cy="1152906"/>
            </a:xfrm>
            <a:custGeom>
              <a:avLst/>
              <a:gdLst/>
              <a:ahLst/>
              <a:cxnLst/>
              <a:rect r="r" b="b" t="t" l="l"/>
              <a:pathLst>
                <a:path h="1152906" w="9163050">
                  <a:moveTo>
                    <a:pt x="0" y="260350"/>
                  </a:moveTo>
                  <a:cubicBezTo>
                    <a:pt x="0" y="116586"/>
                    <a:pt x="116586" y="0"/>
                    <a:pt x="260350" y="0"/>
                  </a:cubicBezTo>
                  <a:lnTo>
                    <a:pt x="8902700" y="0"/>
                  </a:lnTo>
                  <a:cubicBezTo>
                    <a:pt x="9046464" y="0"/>
                    <a:pt x="9163050" y="116586"/>
                    <a:pt x="9163050" y="260350"/>
                  </a:cubicBezTo>
                  <a:lnTo>
                    <a:pt x="9163050" y="892556"/>
                  </a:lnTo>
                  <a:cubicBezTo>
                    <a:pt x="9163050" y="1036320"/>
                    <a:pt x="9046464" y="1152906"/>
                    <a:pt x="8902700" y="1152906"/>
                  </a:cubicBezTo>
                  <a:lnTo>
                    <a:pt x="260350" y="1152906"/>
                  </a:lnTo>
                  <a:cubicBezTo>
                    <a:pt x="116586" y="1152906"/>
                    <a:pt x="0" y="1036320"/>
                    <a:pt x="0" y="892556"/>
                  </a:cubicBezTo>
                  <a:close/>
                </a:path>
              </a:pathLst>
            </a:custGeom>
            <a:solidFill>
              <a:srgbClr val="FFCB2B"/>
            </a:solidFill>
            <a:ln w="14288" cap="sq">
              <a:solidFill>
                <a:srgbClr val="FFCB2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" y="3360420"/>
            <a:ext cx="6309360" cy="850392"/>
            <a:chOff x="0" y="0"/>
            <a:chExt cx="841248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12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566" r="0" b="-9456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412480" cy="11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50" u="sng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4" tooltip="https://code.visualstudio.com"/>
                </a:rPr>
                <a:t>code.visualstudio.com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3435" y="4722495"/>
            <a:ext cx="704850" cy="704850"/>
            <a:chOff x="0" y="0"/>
            <a:chExt cx="939800" cy="939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CB2B"/>
            </a:solidFill>
            <a:ln w="19050" cap="sq">
              <a:solidFill>
                <a:srgbClr val="FFCB2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4732020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851660" y="4636008"/>
            <a:ext cx="5829300" cy="411480"/>
            <a:chOff x="0" y="0"/>
            <a:chExt cx="7772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77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777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FFCB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INSTALL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851660" y="5033772"/>
            <a:ext cx="5829300" cy="548640"/>
            <a:chOff x="0" y="0"/>
            <a:chExt cx="77724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77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77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Free on Windows / Mac / Linux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8400">
            <a:off x="1844507" y="5769674"/>
            <a:ext cx="5843607" cy="0"/>
          </a:xfrm>
          <a:prstGeom prst="line">
            <a:avLst/>
          </a:prstGeom>
          <a:ln cap="rnd" w="9525">
            <a:solidFill>
              <a:srgbClr val="2430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813435" y="6025515"/>
            <a:ext cx="704850" cy="704850"/>
            <a:chOff x="0" y="0"/>
            <a:chExt cx="939800" cy="939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7224A"/>
            </a:solidFill>
            <a:ln w="19050" cap="sq">
              <a:solidFill>
                <a:srgbClr val="17224A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6035040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851660" y="5939028"/>
            <a:ext cx="5829300" cy="411480"/>
            <a:chOff x="0" y="0"/>
            <a:chExt cx="777240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7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777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FFCB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COMPILER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851660" y="6336792"/>
            <a:ext cx="5829300" cy="548640"/>
            <a:chOff x="0" y="0"/>
            <a:chExt cx="777240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77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777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MinGW (g++) on Windows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8400">
            <a:off x="1844507" y="7072694"/>
            <a:ext cx="5843607" cy="0"/>
          </a:xfrm>
          <a:prstGeom prst="line">
            <a:avLst/>
          </a:prstGeom>
          <a:ln cap="rnd" w="9525">
            <a:solidFill>
              <a:srgbClr val="2430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813435" y="7328535"/>
            <a:ext cx="704850" cy="704850"/>
            <a:chOff x="0" y="0"/>
            <a:chExt cx="939800" cy="939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7224A"/>
            </a:solidFill>
            <a:ln w="19050" cap="sq">
              <a:solidFill>
                <a:srgbClr val="17224A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822960" y="7338060"/>
            <a:ext cx="685800" cy="685800"/>
            <a:chOff x="0" y="0"/>
            <a:chExt cx="9144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851660" y="7242048"/>
            <a:ext cx="5829300" cy="411480"/>
            <a:chOff x="0" y="0"/>
            <a:chExt cx="77724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77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777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FFCB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EXTENSIONS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851660" y="7639812"/>
            <a:ext cx="5829300" cy="548640"/>
            <a:chOff x="0" y="0"/>
            <a:chExt cx="777240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77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777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C/C++ and Code Runner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 rot="8400">
            <a:off x="1844507" y="8375714"/>
            <a:ext cx="5843607" cy="0"/>
          </a:xfrm>
          <a:prstGeom prst="line">
            <a:avLst/>
          </a:prstGeom>
          <a:ln cap="rnd" w="9525">
            <a:solidFill>
              <a:srgbClr val="2430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813435" y="8631555"/>
            <a:ext cx="704850" cy="704850"/>
            <a:chOff x="0" y="0"/>
            <a:chExt cx="939800" cy="939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7224A"/>
            </a:solidFill>
            <a:ln w="19050" cap="sq">
              <a:solidFill>
                <a:srgbClr val="17224A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822960" y="8641080"/>
            <a:ext cx="685800" cy="685800"/>
            <a:chOff x="0" y="0"/>
            <a:chExt cx="914400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851660" y="8545068"/>
            <a:ext cx="5829300" cy="411480"/>
            <a:chOff x="0" y="0"/>
            <a:chExt cx="777240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77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777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FFCB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851660" y="8942832"/>
            <a:ext cx="5829300" cy="548640"/>
            <a:chOff x="0" y="0"/>
            <a:chExt cx="777240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77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777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Write → save → run in the terminal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359616" y="3353276"/>
            <a:ext cx="9204007" cy="5303520"/>
            <a:chOff x="0" y="0"/>
            <a:chExt cx="12272010" cy="70713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272011" cy="7071361"/>
            </a:xfrm>
            <a:custGeom>
              <a:avLst/>
              <a:gdLst/>
              <a:ahLst/>
              <a:cxnLst/>
              <a:rect r="r" b="b" t="t" l="l"/>
              <a:pathLst>
                <a:path h="7071361" w="12272011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2015343" y="0"/>
                  </a:lnTo>
                  <a:cubicBezTo>
                    <a:pt x="12157075" y="0"/>
                    <a:pt x="12272011" y="114935"/>
                    <a:pt x="12272011" y="256667"/>
                  </a:cubicBezTo>
                  <a:lnTo>
                    <a:pt x="12272011" y="6814693"/>
                  </a:lnTo>
                  <a:cubicBezTo>
                    <a:pt x="12272011" y="6956425"/>
                    <a:pt x="12157075" y="7071361"/>
                    <a:pt x="12015343" y="7071361"/>
                  </a:cubicBezTo>
                  <a:lnTo>
                    <a:pt x="256667" y="7071361"/>
                  </a:lnTo>
                  <a:cubicBezTo>
                    <a:pt x="114935" y="7071360"/>
                    <a:pt x="0" y="6956425"/>
                    <a:pt x="0" y="6814693"/>
                  </a:cubicBezTo>
                  <a:close/>
                </a:path>
              </a:pathLst>
            </a:custGeom>
            <a:solidFill>
              <a:srgbClr val="121C40"/>
            </a:solidFill>
            <a:ln w="14288" cap="sq">
              <a:solidFill>
                <a:srgbClr val="24305C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8503920" y="3497580"/>
            <a:ext cx="8915400" cy="5014912"/>
            <a:chOff x="0" y="0"/>
            <a:chExt cx="11887200" cy="6686550"/>
          </a:xfrm>
        </p:grpSpPr>
        <p:sp>
          <p:nvSpPr>
            <p:cNvPr name="Freeform 67" id="67" descr="/home/yousefmsm1/Desktop/ICPC HUE - Canva Template Kit/pptx_build/shot_vscode.png"/>
            <p:cNvSpPr/>
            <p:nvPr/>
          </p:nvSpPr>
          <p:spPr>
            <a:xfrm flipH="false" flipV="false" rot="0">
              <a:off x="0" y="0"/>
              <a:ext cx="11887200" cy="6686550"/>
            </a:xfrm>
            <a:custGeom>
              <a:avLst/>
              <a:gdLst/>
              <a:ahLst/>
              <a:cxnLst/>
              <a:rect r="r" b="b" t="t" l="l"/>
              <a:pathLst>
                <a:path h="668655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686550"/>
                  </a:lnTo>
                  <a:lnTo>
                    <a:pt x="0" y="6686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16458743" y="41910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11480"/>
            <a:ext cx="822960" cy="548640"/>
            <a:chOff x="0" y="0"/>
            <a:chExt cx="1097280" cy="731520"/>
          </a:xfrm>
        </p:grpSpPr>
        <p:sp>
          <p:nvSpPr>
            <p:cNvPr name="Freeform 3" id="3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0" t="0" r="-55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2940">
            <a:off x="815816" y="1202246"/>
            <a:ext cx="16655920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977640" y="411480"/>
            <a:ext cx="8229600" cy="548640"/>
            <a:chOff x="0" y="0"/>
            <a:chExt cx="10972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972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5B67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WHERE YOU SUBMIT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440180"/>
            <a:ext cx="16641623" cy="1165860"/>
            <a:chOff x="0" y="0"/>
            <a:chExt cx="2218883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883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131" r="0" b="-2281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8883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1B3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Codeforces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22960" y="2540508"/>
            <a:ext cx="16641623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785"/>
                </a:solidFill>
                <a:latin typeface="Calibri (MS)"/>
                <a:ea typeface="Calibri (MS)"/>
                <a:cs typeface="Calibri (MS)"/>
                <a:sym typeface="Calibri (MS)"/>
              </a:rPr>
              <a:t>The online judge for our sheets and weekly contests.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5816" y="3353276"/>
            <a:ext cx="6872288" cy="864680"/>
            <a:chOff x="0" y="0"/>
            <a:chExt cx="9163050" cy="11529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63050" cy="1152906"/>
            </a:xfrm>
            <a:custGeom>
              <a:avLst/>
              <a:gdLst/>
              <a:ahLst/>
              <a:cxnLst/>
              <a:rect r="r" b="b" t="t" l="l"/>
              <a:pathLst>
                <a:path h="1152906" w="9163050">
                  <a:moveTo>
                    <a:pt x="0" y="260350"/>
                  </a:moveTo>
                  <a:cubicBezTo>
                    <a:pt x="0" y="116586"/>
                    <a:pt x="116586" y="0"/>
                    <a:pt x="260350" y="0"/>
                  </a:cubicBezTo>
                  <a:lnTo>
                    <a:pt x="8902700" y="0"/>
                  </a:lnTo>
                  <a:cubicBezTo>
                    <a:pt x="9046464" y="0"/>
                    <a:pt x="9163050" y="116586"/>
                    <a:pt x="9163050" y="260350"/>
                  </a:cubicBezTo>
                  <a:lnTo>
                    <a:pt x="9163050" y="892556"/>
                  </a:lnTo>
                  <a:cubicBezTo>
                    <a:pt x="9163050" y="1036320"/>
                    <a:pt x="9046464" y="1152906"/>
                    <a:pt x="8902700" y="1152906"/>
                  </a:cubicBezTo>
                  <a:lnTo>
                    <a:pt x="260350" y="1152906"/>
                  </a:lnTo>
                  <a:cubicBezTo>
                    <a:pt x="116586" y="1152906"/>
                    <a:pt x="0" y="1036320"/>
                    <a:pt x="0" y="892556"/>
                  </a:cubicBezTo>
                  <a:close/>
                </a:path>
              </a:pathLst>
            </a:custGeom>
            <a:solidFill>
              <a:srgbClr val="FFCB2B"/>
            </a:solidFill>
            <a:ln w="14288" cap="sq">
              <a:solidFill>
                <a:srgbClr val="FFCB2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" y="3360420"/>
            <a:ext cx="6309360" cy="850392"/>
            <a:chOff x="0" y="0"/>
            <a:chExt cx="841248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124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566" r="0" b="-9456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412480" cy="11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50" u="sng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4" tooltip="https://codeforces.com"/>
                </a:rPr>
                <a:t>codeforces.com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3435" y="4722495"/>
            <a:ext cx="704850" cy="704850"/>
            <a:chOff x="0" y="0"/>
            <a:chExt cx="939800" cy="939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CB2B"/>
            </a:solidFill>
            <a:ln w="19050" cap="sq">
              <a:solidFill>
                <a:srgbClr val="FFCB2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4732020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851660" y="4636008"/>
            <a:ext cx="5829300" cy="411480"/>
            <a:chOff x="0" y="0"/>
            <a:chExt cx="7772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77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777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851660" y="5033772"/>
            <a:ext cx="5829300" cy="548640"/>
            <a:chOff x="0" y="0"/>
            <a:chExt cx="77724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77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77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0B1B3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Same handle as on icpchue.com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8400">
            <a:off x="1844507" y="5769674"/>
            <a:ext cx="5843607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813435" y="6025515"/>
            <a:ext cx="704850" cy="704850"/>
            <a:chOff x="0" y="0"/>
            <a:chExt cx="939800" cy="939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EEF2FA"/>
            </a:solidFill>
            <a:ln w="19050" cap="sq">
              <a:solidFill>
                <a:srgbClr val="EEF2FA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6035040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B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851660" y="5939028"/>
            <a:ext cx="5829300" cy="411480"/>
            <a:chOff x="0" y="0"/>
            <a:chExt cx="777240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7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777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GROUP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851660" y="6336792"/>
            <a:ext cx="5829300" cy="548640"/>
            <a:chOff x="0" y="0"/>
            <a:chExt cx="777240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77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777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0B1B3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Sheets and contests live there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8400">
            <a:off x="1844507" y="7072694"/>
            <a:ext cx="5843607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813435" y="7328535"/>
            <a:ext cx="704850" cy="704850"/>
            <a:chOff x="0" y="0"/>
            <a:chExt cx="939800" cy="939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EEF2FA"/>
            </a:solidFill>
            <a:ln w="19050" cap="sq">
              <a:solidFill>
                <a:srgbClr val="EEF2FA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822960" y="7338060"/>
            <a:ext cx="685800" cy="685800"/>
            <a:chOff x="0" y="0"/>
            <a:chExt cx="9144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B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851660" y="7242048"/>
            <a:ext cx="5829300" cy="411480"/>
            <a:chOff x="0" y="0"/>
            <a:chExt cx="77724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77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777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SUBMIT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851660" y="7639812"/>
            <a:ext cx="5829300" cy="548640"/>
            <a:chOff x="0" y="0"/>
            <a:chExt cx="777240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77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777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0B1B3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Language: GNU G++20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 rot="8400">
            <a:off x="1844507" y="8375714"/>
            <a:ext cx="5843607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813435" y="8631555"/>
            <a:ext cx="704850" cy="704850"/>
            <a:chOff x="0" y="0"/>
            <a:chExt cx="939800" cy="939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EEF2FA"/>
            </a:solidFill>
            <a:ln w="19050" cap="sq">
              <a:solidFill>
                <a:srgbClr val="EEF2FA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822960" y="8641080"/>
            <a:ext cx="685800" cy="685800"/>
            <a:chOff x="0" y="0"/>
            <a:chExt cx="914400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B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851660" y="8545068"/>
            <a:ext cx="5829300" cy="411480"/>
            <a:chOff x="0" y="0"/>
            <a:chExt cx="777240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77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777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VERDICTS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851660" y="8942832"/>
            <a:ext cx="5829300" cy="548640"/>
            <a:chOff x="0" y="0"/>
            <a:chExt cx="777240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77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777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0B1B3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 ✓ · WA · TLE · CE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359616" y="3353276"/>
            <a:ext cx="9204007" cy="4829889"/>
            <a:chOff x="0" y="0"/>
            <a:chExt cx="12272010" cy="64398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272010" cy="6439789"/>
            </a:xfrm>
            <a:custGeom>
              <a:avLst/>
              <a:gdLst/>
              <a:ahLst/>
              <a:cxnLst/>
              <a:rect r="r" b="b" t="t" l="l"/>
              <a:pathLst>
                <a:path h="6439789" w="12272010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12015216" y="0"/>
                  </a:lnTo>
                  <a:cubicBezTo>
                    <a:pt x="12157075" y="0"/>
                    <a:pt x="12272010" y="114935"/>
                    <a:pt x="12272010" y="256794"/>
                  </a:cubicBezTo>
                  <a:lnTo>
                    <a:pt x="12272010" y="6182995"/>
                  </a:lnTo>
                  <a:cubicBezTo>
                    <a:pt x="12272010" y="6324854"/>
                    <a:pt x="12157075" y="6439789"/>
                    <a:pt x="12015216" y="6439789"/>
                  </a:cubicBezTo>
                  <a:lnTo>
                    <a:pt x="256794" y="6439789"/>
                  </a:lnTo>
                  <a:cubicBezTo>
                    <a:pt x="114935" y="6439789"/>
                    <a:pt x="0" y="6324854"/>
                    <a:pt x="0" y="618299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E9F5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8503920" y="3497580"/>
            <a:ext cx="8915400" cy="4541282"/>
            <a:chOff x="0" y="0"/>
            <a:chExt cx="11887200" cy="6055042"/>
          </a:xfrm>
        </p:grpSpPr>
        <p:sp>
          <p:nvSpPr>
            <p:cNvPr name="Freeform 67" id="67" descr="/home/yousefmsm1/Desktop/ICPC HUE - Canva Template Kit/pptx_build/shot_codeforces.png"/>
            <p:cNvSpPr/>
            <p:nvPr/>
          </p:nvSpPr>
          <p:spPr>
            <a:xfrm flipH="false" flipV="false" rot="0">
              <a:off x="0" y="0"/>
              <a:ext cx="11887200" cy="6054979"/>
            </a:xfrm>
            <a:custGeom>
              <a:avLst/>
              <a:gdLst/>
              <a:ahLst/>
              <a:cxnLst/>
              <a:rect r="r" b="b" t="t" l="l"/>
              <a:pathLst>
                <a:path h="6054979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054979"/>
                  </a:lnTo>
                  <a:lnTo>
                    <a:pt x="0" y="6054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16458743" y="41910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B1B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11480"/>
            <a:ext cx="822960" cy="548640"/>
            <a:chOff x="0" y="0"/>
            <a:chExt cx="1097280" cy="731520"/>
          </a:xfrm>
        </p:grpSpPr>
        <p:sp>
          <p:nvSpPr>
            <p:cNvPr name="Freeform 3" id="3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0" t="0" r="-55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2940">
            <a:off x="815816" y="1202246"/>
            <a:ext cx="16655920" cy="0"/>
          </a:xfrm>
          <a:prstGeom prst="line">
            <a:avLst/>
          </a:prstGeom>
          <a:ln cap="rnd" w="9525">
            <a:solidFill>
              <a:srgbClr val="24305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22960" y="3166110"/>
            <a:ext cx="4114800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3200" b="true">
                <a:solidFill>
                  <a:srgbClr val="FFCB2B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4909185"/>
            <a:ext cx="15087600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sz="69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C++ basics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2960" y="6320790"/>
            <a:ext cx="1371600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A9B4D0"/>
                </a:solidFill>
                <a:latin typeface="Calibri (MS)"/>
                <a:ea typeface="Calibri (MS)"/>
                <a:cs typeface="Calibri (MS)"/>
                <a:sym typeface="Calibri (MS)"/>
              </a:rPr>
              <a:t>Everything you need to solve your first problems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11480"/>
            <a:ext cx="822960" cy="548640"/>
            <a:chOff x="0" y="0"/>
            <a:chExt cx="1097280" cy="731520"/>
          </a:xfrm>
        </p:grpSpPr>
        <p:sp>
          <p:nvSpPr>
            <p:cNvPr name="Freeform 3" id="3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0" t="0" r="-55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2940">
            <a:off x="815816" y="1202246"/>
            <a:ext cx="16655920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977640" y="411480"/>
            <a:ext cx="8229600" cy="548640"/>
            <a:chOff x="0" y="0"/>
            <a:chExt cx="10972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972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5B67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C++ BASICS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440180"/>
            <a:ext cx="16641623" cy="1165860"/>
            <a:chOff x="0" y="0"/>
            <a:chExt cx="2218883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883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131" r="0" b="-2281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8883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1B3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Input &amp; output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22960" y="2540508"/>
            <a:ext cx="16641623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785"/>
                </a:solidFill>
                <a:latin typeface="Calibri (MS)"/>
                <a:ea typeface="Calibri (MS)"/>
                <a:cs typeface="Calibri (MS)"/>
                <a:sym typeface="Calibri (MS)"/>
              </a:rPr>
              <a:t>Read with cin, print with cout.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5816" y="3421856"/>
            <a:ext cx="9478328" cy="5912168"/>
            <a:chOff x="0" y="0"/>
            <a:chExt cx="12637770" cy="78828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37770" cy="7882890"/>
            </a:xfrm>
            <a:custGeom>
              <a:avLst/>
              <a:gdLst/>
              <a:ahLst/>
              <a:cxnLst/>
              <a:rect r="r" b="b" t="t" l="l"/>
              <a:pathLst>
                <a:path h="7882890" w="12637770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2381103" y="0"/>
                  </a:lnTo>
                  <a:cubicBezTo>
                    <a:pt x="12522835" y="0"/>
                    <a:pt x="12637770" y="114935"/>
                    <a:pt x="12637770" y="256667"/>
                  </a:cubicBezTo>
                  <a:lnTo>
                    <a:pt x="12637770" y="7626223"/>
                  </a:lnTo>
                  <a:cubicBezTo>
                    <a:pt x="12637770" y="7767955"/>
                    <a:pt x="12522835" y="7882890"/>
                    <a:pt x="12381103" y="7882890"/>
                  </a:cubicBezTo>
                  <a:lnTo>
                    <a:pt x="256667" y="7882890"/>
                  </a:lnTo>
                  <a:cubicBezTo>
                    <a:pt x="114935" y="7882890"/>
                    <a:pt x="0" y="7767955"/>
                    <a:pt x="0" y="7626223"/>
                  </a:cubicBezTo>
                  <a:close/>
                </a:path>
              </a:pathLst>
            </a:custGeom>
            <a:solidFill>
              <a:srgbClr val="0A1230"/>
            </a:solidFill>
            <a:ln w="14288" cap="sq">
              <a:solidFill>
                <a:srgbClr val="0A1230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34440" y="3762375"/>
            <a:ext cx="8641080" cy="343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8FB4FF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&lt;bits/stdc++.h&gt;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8FB4FF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</a:p>
          <a:p>
            <a:pPr algn="l">
              <a:lnSpc>
                <a:spcPts val="3060"/>
              </a:lnSpc>
            </a:pP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int main() {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int a, b;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CB2B"/>
                </a:solidFill>
                <a:latin typeface="Courier New"/>
                <a:ea typeface="Courier New"/>
                <a:cs typeface="Courier New"/>
                <a:sym typeface="Courier New"/>
              </a:rPr>
              <a:t>    cin &gt;&gt; a &gt;&gt; b;          // read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CB2B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a + b &lt;&lt; '\n';  // print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894695" y="3556635"/>
            <a:ext cx="704850" cy="704850"/>
            <a:chOff x="0" y="0"/>
            <a:chExt cx="939800" cy="939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CB2B"/>
            </a:solidFill>
            <a:ln w="19050" cap="sq">
              <a:solidFill>
                <a:srgbClr val="FFCB2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904220" y="3566160"/>
            <a:ext cx="685800" cy="685800"/>
            <a:chOff x="0" y="0"/>
            <a:chExt cx="9144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32920" y="3470148"/>
            <a:ext cx="5554980" cy="411480"/>
            <a:chOff x="0" y="0"/>
            <a:chExt cx="740664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06640" cy="548640"/>
            </a:xfrm>
            <a:custGeom>
              <a:avLst/>
              <a:gdLst/>
              <a:ahLst/>
              <a:cxnLst/>
              <a:rect r="r" b="b" t="t" l="l"/>
              <a:pathLst>
                <a:path h="54864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74066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cin &gt;&gt;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932920" y="3867912"/>
            <a:ext cx="5554980" cy="548640"/>
            <a:chOff x="0" y="0"/>
            <a:chExt cx="740664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06640" cy="731520"/>
            </a:xfrm>
            <a:custGeom>
              <a:avLst/>
              <a:gdLst/>
              <a:ahLst/>
              <a:cxnLst/>
              <a:rect r="r" b="b" t="t" l="l"/>
              <a:pathLst>
                <a:path h="73152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286" r="0" b="-14728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406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0B1B3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Reads from the input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8820">
            <a:off x="11925767" y="4740974"/>
            <a:ext cx="5569287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0894695" y="4996815"/>
            <a:ext cx="704850" cy="704850"/>
            <a:chOff x="0" y="0"/>
            <a:chExt cx="939800" cy="939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EEF2FA"/>
            </a:solidFill>
            <a:ln w="19050" cap="sq">
              <a:solidFill>
                <a:srgbClr val="EEF2FA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904220" y="500634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B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932920" y="4910328"/>
            <a:ext cx="5554980" cy="411480"/>
            <a:chOff x="0" y="0"/>
            <a:chExt cx="740664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06640" cy="548640"/>
            </a:xfrm>
            <a:custGeom>
              <a:avLst/>
              <a:gdLst/>
              <a:ahLst/>
              <a:cxnLst/>
              <a:rect r="r" b="b" t="t" l="l"/>
              <a:pathLst>
                <a:path h="54864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74066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cout &lt;&lt;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932920" y="5308092"/>
            <a:ext cx="5554980" cy="548640"/>
            <a:chOff x="0" y="0"/>
            <a:chExt cx="740664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06640" cy="731520"/>
            </a:xfrm>
            <a:custGeom>
              <a:avLst/>
              <a:gdLst/>
              <a:ahLst/>
              <a:cxnLst/>
              <a:rect r="r" b="b" t="t" l="l"/>
              <a:pathLst>
                <a:path h="73152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286" r="0" b="-14728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406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0B1B3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Prints to the output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rot="8820">
            <a:off x="11925767" y="6181154"/>
            <a:ext cx="5569287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0894695" y="6436995"/>
            <a:ext cx="704850" cy="704850"/>
            <a:chOff x="0" y="0"/>
            <a:chExt cx="939800" cy="939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EEF2FA"/>
            </a:solidFill>
            <a:ln w="19050" cap="sq">
              <a:solidFill>
                <a:srgbClr val="EEF2FA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0904220" y="6446520"/>
            <a:ext cx="685800" cy="685800"/>
            <a:chOff x="0" y="0"/>
            <a:chExt cx="9144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B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932920" y="6350508"/>
            <a:ext cx="5554980" cy="411480"/>
            <a:chOff x="0" y="0"/>
            <a:chExt cx="740664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406640" cy="548640"/>
            </a:xfrm>
            <a:custGeom>
              <a:avLst/>
              <a:gdLst/>
              <a:ahLst/>
              <a:cxnLst/>
              <a:rect r="r" b="b" t="t" l="l"/>
              <a:pathLst>
                <a:path h="54864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74066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'\n'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932920" y="6748272"/>
            <a:ext cx="5554980" cy="548640"/>
            <a:chOff x="0" y="0"/>
            <a:chExt cx="740664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406640" cy="731520"/>
            </a:xfrm>
            <a:custGeom>
              <a:avLst/>
              <a:gdLst/>
              <a:ahLst/>
              <a:cxnLst/>
              <a:rect r="r" b="b" t="t" l="l"/>
              <a:pathLst>
                <a:path h="73152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286" r="0" b="-14728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7406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0B1B3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 line — faster than endl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rot="8820">
            <a:off x="11925767" y="7621334"/>
            <a:ext cx="5569287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0894695" y="7877175"/>
            <a:ext cx="704850" cy="704850"/>
            <a:chOff x="0" y="0"/>
            <a:chExt cx="939800" cy="939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EEF2FA"/>
            </a:solidFill>
            <a:ln w="19050" cap="sq">
              <a:solidFill>
                <a:srgbClr val="EEF2FA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0904220" y="7886700"/>
            <a:ext cx="685800" cy="685800"/>
            <a:chOff x="0" y="0"/>
            <a:chExt cx="91440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B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932920" y="7790688"/>
            <a:ext cx="5554980" cy="411480"/>
            <a:chOff x="0" y="0"/>
            <a:chExt cx="740664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406640" cy="548640"/>
            </a:xfrm>
            <a:custGeom>
              <a:avLst/>
              <a:gdLst/>
              <a:ahLst/>
              <a:cxnLst/>
              <a:rect r="r" b="b" t="t" l="l"/>
              <a:pathLst>
                <a:path h="54864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74066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bits/stdc++.h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932920" y="8188452"/>
            <a:ext cx="5554980" cy="548640"/>
            <a:chOff x="0" y="0"/>
            <a:chExt cx="740664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406640" cy="731520"/>
            </a:xfrm>
            <a:custGeom>
              <a:avLst/>
              <a:gdLst/>
              <a:ahLst/>
              <a:cxnLst/>
              <a:rect r="r" b="b" t="t" l="l"/>
              <a:pathLst>
                <a:path h="73152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286" r="0" b="-14728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7406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0B1B3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whole standard library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6458743" y="41910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B1B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11480"/>
            <a:ext cx="822960" cy="548640"/>
            <a:chOff x="0" y="0"/>
            <a:chExt cx="1097280" cy="731520"/>
          </a:xfrm>
        </p:grpSpPr>
        <p:sp>
          <p:nvSpPr>
            <p:cNvPr name="Freeform 3" id="3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0" t="0" r="-55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2940">
            <a:off x="815816" y="1202246"/>
            <a:ext cx="16655920" cy="0"/>
          </a:xfrm>
          <a:prstGeom prst="line">
            <a:avLst/>
          </a:prstGeom>
          <a:ln cap="rnd" w="9525">
            <a:solidFill>
              <a:srgbClr val="2430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977640" y="411480"/>
            <a:ext cx="8229600" cy="548640"/>
            <a:chOff x="0" y="0"/>
            <a:chExt cx="10972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972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9B4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C++ BASICS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440180"/>
            <a:ext cx="16641623" cy="1165860"/>
            <a:chOff x="0" y="0"/>
            <a:chExt cx="2218883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883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131" r="0" b="-2281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8883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Making variables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22960" y="2540508"/>
            <a:ext cx="16641623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9B4D0"/>
                </a:solidFill>
                <a:latin typeface="Calibri (MS)"/>
                <a:ea typeface="Calibri (MS)"/>
                <a:cs typeface="Calibri (MS)"/>
                <a:sym typeface="Calibri (MS)"/>
              </a:rPr>
              <a:t>Every variable is a type, a name and a value.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5816" y="3421856"/>
            <a:ext cx="8792528" cy="5500688"/>
            <a:chOff x="0" y="0"/>
            <a:chExt cx="11723370" cy="7334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23370" cy="7334250"/>
            </a:xfrm>
            <a:custGeom>
              <a:avLst/>
              <a:gdLst/>
              <a:ahLst/>
              <a:cxnLst/>
              <a:rect r="r" b="b" t="t" l="l"/>
              <a:pathLst>
                <a:path h="7334250" w="11723370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1466703" y="0"/>
                  </a:lnTo>
                  <a:cubicBezTo>
                    <a:pt x="11608435" y="0"/>
                    <a:pt x="11723370" y="114935"/>
                    <a:pt x="11723370" y="256667"/>
                  </a:cubicBezTo>
                  <a:lnTo>
                    <a:pt x="11723370" y="7077583"/>
                  </a:lnTo>
                  <a:cubicBezTo>
                    <a:pt x="11723370" y="7219314"/>
                    <a:pt x="11608435" y="7334250"/>
                    <a:pt x="11466703" y="7334250"/>
                  </a:cubicBezTo>
                  <a:lnTo>
                    <a:pt x="256667" y="7334250"/>
                  </a:lnTo>
                  <a:cubicBezTo>
                    <a:pt x="114935" y="7334250"/>
                    <a:pt x="0" y="7219315"/>
                    <a:pt x="0" y="7077583"/>
                  </a:cubicBezTo>
                  <a:close/>
                </a:path>
              </a:pathLst>
            </a:custGeom>
            <a:solidFill>
              <a:srgbClr val="060C22"/>
            </a:solidFill>
            <a:ln w="14288" cap="sq">
              <a:solidFill>
                <a:srgbClr val="24305C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34440" y="3762375"/>
            <a:ext cx="7955280" cy="481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int age = 19;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double price = 12.5;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char grade = 'A';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string name = "Horus";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long long big = 1e18;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8FB4FF"/>
                </a:solidFill>
                <a:latin typeface="Courier New"/>
                <a:ea typeface="Courier New"/>
                <a:cs typeface="Courier New"/>
                <a:sym typeface="Courier New"/>
              </a:rPr>
              <a:t>age = age + 1;   // now 20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08895" y="3556635"/>
            <a:ext cx="704850" cy="704850"/>
            <a:chOff x="0" y="0"/>
            <a:chExt cx="939800" cy="939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CB2B"/>
            </a:solidFill>
            <a:ln w="19050" cap="sq">
              <a:solidFill>
                <a:srgbClr val="FFCB2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218420" y="3566160"/>
            <a:ext cx="685800" cy="685800"/>
            <a:chOff x="0" y="0"/>
            <a:chExt cx="9144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247120" y="3470148"/>
            <a:ext cx="6240780" cy="411480"/>
            <a:chOff x="0" y="0"/>
            <a:chExt cx="832104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321040" cy="548640"/>
            </a:xfrm>
            <a:custGeom>
              <a:avLst/>
              <a:gdLst/>
              <a:ahLst/>
              <a:cxnLst/>
              <a:rect r="r" b="b" t="t" l="l"/>
              <a:pathLst>
                <a:path h="54864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321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FFCB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PATTERN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247120" y="3867912"/>
            <a:ext cx="6240780" cy="548640"/>
            <a:chOff x="0" y="0"/>
            <a:chExt cx="832104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21040" cy="731520"/>
            </a:xfrm>
            <a:custGeom>
              <a:avLst/>
              <a:gdLst/>
              <a:ahLst/>
              <a:cxnLst/>
              <a:rect r="r" b="b" t="t" l="l"/>
              <a:pathLst>
                <a:path h="73152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642" r="0" b="-17164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321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 name = value;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7860">
            <a:off x="11239967" y="5015294"/>
            <a:ext cx="6255087" cy="0"/>
          </a:xfrm>
          <a:prstGeom prst="line">
            <a:avLst/>
          </a:prstGeom>
          <a:ln cap="rnd" w="9525">
            <a:solidFill>
              <a:srgbClr val="2430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0208895" y="5271135"/>
            <a:ext cx="704850" cy="704850"/>
            <a:chOff x="0" y="0"/>
            <a:chExt cx="939800" cy="939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7224A"/>
            </a:solidFill>
            <a:ln w="19050" cap="sq">
              <a:solidFill>
                <a:srgbClr val="17224A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218420" y="528066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247120" y="5184648"/>
            <a:ext cx="6240780" cy="411480"/>
            <a:chOff x="0" y="0"/>
            <a:chExt cx="832104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321040" cy="548640"/>
            </a:xfrm>
            <a:custGeom>
              <a:avLst/>
              <a:gdLst/>
              <a:ahLst/>
              <a:cxnLst/>
              <a:rect r="r" b="b" t="t" l="l"/>
              <a:pathLst>
                <a:path h="54864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8321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FFCB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NAMES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247120" y="5582412"/>
            <a:ext cx="6240780" cy="548640"/>
            <a:chOff x="0" y="0"/>
            <a:chExt cx="832104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321040" cy="731520"/>
            </a:xfrm>
            <a:custGeom>
              <a:avLst/>
              <a:gdLst/>
              <a:ahLst/>
              <a:cxnLst/>
              <a:rect r="r" b="b" t="t" l="l"/>
              <a:pathLst>
                <a:path h="73152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642" r="0" b="-17164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8321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Letters, digits, _ — not starting with a digit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rot="7860">
            <a:off x="11239967" y="6729794"/>
            <a:ext cx="6255087" cy="0"/>
          </a:xfrm>
          <a:prstGeom prst="line">
            <a:avLst/>
          </a:prstGeom>
          <a:ln cap="rnd" w="9525">
            <a:solidFill>
              <a:srgbClr val="2430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0208895" y="6985635"/>
            <a:ext cx="704850" cy="704850"/>
            <a:chOff x="0" y="0"/>
            <a:chExt cx="939800" cy="939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7224A"/>
            </a:solidFill>
            <a:ln w="19050" cap="sq">
              <a:solidFill>
                <a:srgbClr val="17224A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0218420" y="6995160"/>
            <a:ext cx="685800" cy="685800"/>
            <a:chOff x="0" y="0"/>
            <a:chExt cx="9144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247120" y="6899148"/>
            <a:ext cx="6240780" cy="411480"/>
            <a:chOff x="0" y="0"/>
            <a:chExt cx="832104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321040" cy="548640"/>
            </a:xfrm>
            <a:custGeom>
              <a:avLst/>
              <a:gdLst/>
              <a:ahLst/>
              <a:cxnLst/>
              <a:rect r="r" b="b" t="t" l="l"/>
              <a:pathLst>
                <a:path h="54864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8321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FFCB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UPDATE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247120" y="7296912"/>
            <a:ext cx="6240780" cy="548640"/>
            <a:chOff x="0" y="0"/>
            <a:chExt cx="832104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321040" cy="731520"/>
            </a:xfrm>
            <a:custGeom>
              <a:avLst/>
              <a:gdLst/>
              <a:ahLst/>
              <a:cxnLst/>
              <a:rect r="r" b="b" t="t" l="l"/>
              <a:pathLst>
                <a:path h="73152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642" r="0" b="-17164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8321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Change a variable any time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6458743" y="41910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3435" y="411480"/>
            <a:ext cx="822960" cy="548640"/>
            <a:chOff x="0" y="0"/>
            <a:chExt cx="1097280" cy="731520"/>
          </a:xfrm>
        </p:grpSpPr>
        <p:sp>
          <p:nvSpPr>
            <p:cNvPr name="Freeform 3" id="3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0" t="0" r="-55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806294" y="1199886"/>
            <a:ext cx="16655914" cy="14244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968115" y="411480"/>
            <a:ext cx="8229600" cy="548640"/>
            <a:chOff x="0" y="0"/>
            <a:chExt cx="10972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972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5B67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MEMORY &amp; TYPES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1440180"/>
            <a:ext cx="16641623" cy="1165860"/>
            <a:chOff x="0" y="0"/>
            <a:chExt cx="2218883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883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131" r="0" b="-2281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8883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1B3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types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13435" y="2540508"/>
            <a:ext cx="16641623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785"/>
                </a:solidFill>
                <a:latin typeface="Calibri (MS)"/>
                <a:ea typeface="Calibri (MS)"/>
                <a:cs typeface="Calibri (MS)"/>
                <a:sym typeface="Calibri (MS)"/>
              </a:rPr>
              <a:t>Pick the type that fits the biggest value you'll store.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813435" y="3429000"/>
          <a:ext cx="16611600" cy="5372100"/>
        </p:xfrm>
        <a:graphic>
          <a:graphicData uri="http://schemas.openxmlformats.org/drawingml/2006/table">
            <a:tbl>
              <a:tblPr/>
              <a:tblGrid>
                <a:gridCol w="3563773"/>
                <a:gridCol w="2611922"/>
                <a:gridCol w="4107687"/>
                <a:gridCol w="6328218"/>
              </a:tblGrid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Size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Holds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Example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30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A4FD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int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B1B3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 bytes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B1B3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±2·10⁹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B1B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 n = 100;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A4FD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long long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B1B3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 bytes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B1B3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±9·10¹⁸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B1B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 long x = 1e15;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A4FD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double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B1B3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 bytes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B1B3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decimals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B1B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double pi = 3.14;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A4FD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char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B1B3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byte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B1B3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one character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B1B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char c = 'A';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A4FD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string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B1B3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B1B3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text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B1B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string s = "HUE";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16449218" y="41910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B1B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11480"/>
            <a:ext cx="822960" cy="548640"/>
            <a:chOff x="0" y="0"/>
            <a:chExt cx="1097280" cy="731520"/>
          </a:xfrm>
        </p:grpSpPr>
        <p:sp>
          <p:nvSpPr>
            <p:cNvPr name="Freeform 3" id="3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0" t="0" r="-55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2940">
            <a:off x="815816" y="1202246"/>
            <a:ext cx="16655920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977640" y="411480"/>
            <a:ext cx="8229600" cy="548640"/>
            <a:chOff x="0" y="0"/>
            <a:chExt cx="10972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972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5B67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CRITICAL TRAPS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440180"/>
            <a:ext cx="16641623" cy="1165860"/>
            <a:chOff x="0" y="0"/>
            <a:chExt cx="2218883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883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131" r="0" b="-2281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8883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1B3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Two traps: overflow &amp; ASCII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22960" y="2540508"/>
            <a:ext cx="16641623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785"/>
                </a:solidFill>
                <a:latin typeface="Calibri (MS)"/>
                <a:ea typeface="Calibri (MS)"/>
                <a:cs typeface="Calibri (MS)"/>
                <a:sym typeface="Calibri (MS)"/>
              </a:rPr>
              <a:t>Both cost people Wrong Answer in their first contests.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5816" y="3421856"/>
            <a:ext cx="8106728" cy="5912168"/>
            <a:chOff x="0" y="0"/>
            <a:chExt cx="10808970" cy="78828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08970" cy="7882890"/>
            </a:xfrm>
            <a:custGeom>
              <a:avLst/>
              <a:gdLst/>
              <a:ahLst/>
              <a:cxnLst/>
              <a:rect r="r" b="b" t="t" l="l"/>
              <a:pathLst>
                <a:path h="7882890" w="10808970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0552303" y="0"/>
                  </a:lnTo>
                  <a:cubicBezTo>
                    <a:pt x="10694035" y="0"/>
                    <a:pt x="10808970" y="114935"/>
                    <a:pt x="10808970" y="256667"/>
                  </a:cubicBezTo>
                  <a:lnTo>
                    <a:pt x="10808970" y="7626223"/>
                  </a:lnTo>
                  <a:cubicBezTo>
                    <a:pt x="10808970" y="7767955"/>
                    <a:pt x="10694035" y="7882890"/>
                    <a:pt x="10552303" y="7882890"/>
                  </a:cubicBezTo>
                  <a:lnTo>
                    <a:pt x="256667" y="7882890"/>
                  </a:lnTo>
                  <a:cubicBezTo>
                    <a:pt x="114935" y="7882890"/>
                    <a:pt x="0" y="7767955"/>
                    <a:pt x="0" y="76262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E9F5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03020" y="3840480"/>
            <a:ext cx="7132320" cy="548640"/>
            <a:chOff x="0" y="0"/>
            <a:chExt cx="950976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D23B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OVERFLOW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03020" y="4419600"/>
            <a:ext cx="713232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B1B3F"/>
                </a:solidFill>
                <a:latin typeface="Calibri (MS)"/>
                <a:ea typeface="Calibri (MS)"/>
                <a:cs typeface="Calibri (MS)"/>
                <a:sym typeface="Calibri (MS)"/>
              </a:rPr>
              <a:t>An int holds up to 2,147,483,647. Go past it and it wraps to a negative number.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95876" y="6027896"/>
            <a:ext cx="7146607" cy="2894648"/>
            <a:chOff x="0" y="0"/>
            <a:chExt cx="9528810" cy="38595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288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9528810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9271508" y="0"/>
                  </a:lnTo>
                  <a:cubicBezTo>
                    <a:pt x="9413621" y="0"/>
                    <a:pt x="9528810" y="115189"/>
                    <a:pt x="9528810" y="257302"/>
                  </a:cubicBezTo>
                  <a:lnTo>
                    <a:pt x="9528810" y="3602228"/>
                  </a:lnTo>
                  <a:cubicBezTo>
                    <a:pt x="9528810" y="3744341"/>
                    <a:pt x="9413621" y="3859530"/>
                    <a:pt x="9271508" y="3859530"/>
                  </a:cubicBezTo>
                  <a:lnTo>
                    <a:pt x="257302" y="3859530"/>
                  </a:lnTo>
                  <a:cubicBezTo>
                    <a:pt x="115189" y="3859530"/>
                    <a:pt x="0" y="3744341"/>
                    <a:pt x="0" y="3602228"/>
                  </a:cubicBezTo>
                  <a:close/>
                </a:path>
              </a:pathLst>
            </a:custGeom>
            <a:solidFill>
              <a:srgbClr val="0A1230"/>
            </a:solidFill>
            <a:ln w="14288" cap="sq">
              <a:solidFill>
                <a:srgbClr val="0A1230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714500" y="6358890"/>
            <a:ext cx="630936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int a = 100000;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8A8A"/>
                </a:solidFill>
                <a:latin typeface="Courier New"/>
                <a:ea typeface="Courier New"/>
                <a:cs typeface="Courier New"/>
                <a:sym typeface="Courier New"/>
              </a:rPr>
              <a:t>int bad = a * a;         // ✗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EE2A8"/>
                </a:solidFill>
                <a:latin typeface="Courier New"/>
                <a:ea typeface="Courier New"/>
                <a:cs typeface="Courier New"/>
                <a:sym typeface="Courier New"/>
              </a:rPr>
              <a:t>long long ok = 1LL*a*a;  // ✓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78588" y="3421856"/>
            <a:ext cx="8106728" cy="5912168"/>
            <a:chOff x="0" y="0"/>
            <a:chExt cx="10808970" cy="78828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808970" cy="7882890"/>
            </a:xfrm>
            <a:custGeom>
              <a:avLst/>
              <a:gdLst/>
              <a:ahLst/>
              <a:cxnLst/>
              <a:rect r="r" b="b" t="t" l="l"/>
              <a:pathLst>
                <a:path h="7882890" w="10808970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0552303" y="0"/>
                  </a:lnTo>
                  <a:cubicBezTo>
                    <a:pt x="10694035" y="0"/>
                    <a:pt x="10808970" y="114935"/>
                    <a:pt x="10808970" y="256667"/>
                  </a:cubicBezTo>
                  <a:lnTo>
                    <a:pt x="10808970" y="7626223"/>
                  </a:lnTo>
                  <a:cubicBezTo>
                    <a:pt x="10808970" y="7767955"/>
                    <a:pt x="10694035" y="7882890"/>
                    <a:pt x="10552303" y="7882890"/>
                  </a:cubicBezTo>
                  <a:lnTo>
                    <a:pt x="256667" y="7882890"/>
                  </a:lnTo>
                  <a:cubicBezTo>
                    <a:pt x="114935" y="7882890"/>
                    <a:pt x="0" y="7767955"/>
                    <a:pt x="0" y="76262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E9F5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765792" y="3840480"/>
            <a:ext cx="7132320" cy="548640"/>
            <a:chOff x="0" y="0"/>
            <a:chExt cx="95097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1A4F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ASCII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765792" y="4419600"/>
            <a:ext cx="713232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B1B3F"/>
                </a:solidFill>
                <a:latin typeface="Calibri (MS)"/>
                <a:ea typeface="Calibri (MS)"/>
                <a:cs typeface="Calibri (MS)"/>
                <a:sym typeface="Calibri (MS)"/>
              </a:rPr>
              <a:t>Every char is a number: 'A' = 65, 'a' = 97, '0' = 48.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758648" y="6027896"/>
            <a:ext cx="7146607" cy="2894648"/>
            <a:chOff x="0" y="0"/>
            <a:chExt cx="9528810" cy="38595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288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9528810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9271508" y="0"/>
                  </a:lnTo>
                  <a:cubicBezTo>
                    <a:pt x="9413621" y="0"/>
                    <a:pt x="9528810" y="115189"/>
                    <a:pt x="9528810" y="257302"/>
                  </a:cubicBezTo>
                  <a:lnTo>
                    <a:pt x="9528810" y="3602228"/>
                  </a:lnTo>
                  <a:cubicBezTo>
                    <a:pt x="9528810" y="3744341"/>
                    <a:pt x="9413621" y="3859530"/>
                    <a:pt x="9271508" y="3859530"/>
                  </a:cubicBezTo>
                  <a:lnTo>
                    <a:pt x="257302" y="3859530"/>
                  </a:lnTo>
                  <a:cubicBezTo>
                    <a:pt x="115189" y="3859530"/>
                    <a:pt x="0" y="3744341"/>
                    <a:pt x="0" y="3602228"/>
                  </a:cubicBezTo>
                  <a:close/>
                </a:path>
              </a:pathLst>
            </a:custGeom>
            <a:solidFill>
              <a:srgbClr val="0A1230"/>
            </a:solidFill>
            <a:ln w="14288" cap="sq">
              <a:solidFill>
                <a:srgbClr val="0A1230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0177272" y="6358890"/>
            <a:ext cx="6309360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char c = 'a';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8FB4FF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(int)c;      // 97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8FB4FF"/>
                </a:solidFill>
                <a:latin typeface="Courier New"/>
                <a:ea typeface="Courier New"/>
                <a:cs typeface="Courier New"/>
                <a:sym typeface="Courier New"/>
              </a:rPr>
              <a:t>char up = c - 32;    // 'A'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458743" y="41910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B1B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11480"/>
            <a:ext cx="822960" cy="548640"/>
            <a:chOff x="0" y="0"/>
            <a:chExt cx="1097280" cy="731520"/>
          </a:xfrm>
        </p:grpSpPr>
        <p:sp>
          <p:nvSpPr>
            <p:cNvPr name="Freeform 3" id="3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0" t="0" r="-55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2940">
            <a:off x="815816" y="1202246"/>
            <a:ext cx="16655920" cy="0"/>
          </a:xfrm>
          <a:prstGeom prst="line">
            <a:avLst/>
          </a:prstGeom>
          <a:ln cap="rnd" w="9525">
            <a:solidFill>
              <a:srgbClr val="2430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977640" y="411480"/>
            <a:ext cx="8229600" cy="548640"/>
            <a:chOff x="0" y="0"/>
            <a:chExt cx="10972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972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9B4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FORMATTING OUTPUT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440180"/>
            <a:ext cx="16641623" cy="1165860"/>
            <a:chOff x="0" y="0"/>
            <a:chExt cx="2218883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883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131" r="0" b="-2281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8883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Rounding decimal numbers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22960" y="2540508"/>
            <a:ext cx="16641623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9B4D0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Problems often say: print exactly 2 digits after the decimal point.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5816" y="3421856"/>
            <a:ext cx="10026968" cy="4129088"/>
            <a:chOff x="0" y="0"/>
            <a:chExt cx="13369290" cy="55054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69289" cy="5505450"/>
            </a:xfrm>
            <a:custGeom>
              <a:avLst/>
              <a:gdLst/>
              <a:ahLst/>
              <a:cxnLst/>
              <a:rect r="r" b="b" t="t" l="l"/>
              <a:pathLst>
                <a:path h="5505450" w="13369289">
                  <a:moveTo>
                    <a:pt x="0" y="256921"/>
                  </a:moveTo>
                  <a:cubicBezTo>
                    <a:pt x="0" y="115062"/>
                    <a:pt x="115062" y="0"/>
                    <a:pt x="256921" y="0"/>
                  </a:cubicBezTo>
                  <a:lnTo>
                    <a:pt x="13112369" y="0"/>
                  </a:lnTo>
                  <a:cubicBezTo>
                    <a:pt x="13254228" y="0"/>
                    <a:pt x="13369289" y="115062"/>
                    <a:pt x="13369289" y="256921"/>
                  </a:cubicBezTo>
                  <a:lnTo>
                    <a:pt x="13369289" y="5248529"/>
                  </a:lnTo>
                  <a:cubicBezTo>
                    <a:pt x="13369289" y="5390388"/>
                    <a:pt x="13254228" y="5505450"/>
                    <a:pt x="13112369" y="5505450"/>
                  </a:cubicBezTo>
                  <a:lnTo>
                    <a:pt x="256921" y="5505450"/>
                  </a:lnTo>
                  <a:cubicBezTo>
                    <a:pt x="115062" y="5505450"/>
                    <a:pt x="0" y="5390388"/>
                    <a:pt x="0" y="5248529"/>
                  </a:cubicBezTo>
                  <a:close/>
                </a:path>
              </a:pathLst>
            </a:custGeom>
            <a:solidFill>
              <a:srgbClr val="060C22"/>
            </a:solidFill>
            <a:ln w="14288" cap="sq">
              <a:solidFill>
                <a:srgbClr val="24305C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34440" y="3762375"/>
            <a:ext cx="9189720" cy="343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double pi = 3.14159265;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CB2B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fixed &lt;&lt; setprecision(2);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8FB4FF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pi &lt;&lt; '\n';   // 3.14</a:t>
            </a:r>
          </a:p>
          <a:p>
            <a:pPr algn="l">
              <a:lnSpc>
                <a:spcPts val="3060"/>
              </a:lnSpc>
            </a:pP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8FB4FF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setprecision(4) &lt;&lt; pi;  // 3.1416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374755" y="3556635"/>
            <a:ext cx="704850" cy="704850"/>
            <a:chOff x="0" y="0"/>
            <a:chExt cx="939800" cy="939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CB2B"/>
            </a:solidFill>
            <a:ln w="19050" cap="sq">
              <a:solidFill>
                <a:srgbClr val="FFCB2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384280" y="3566160"/>
            <a:ext cx="685800" cy="685800"/>
            <a:chOff x="0" y="0"/>
            <a:chExt cx="9144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412980" y="3470148"/>
            <a:ext cx="5074920" cy="411480"/>
            <a:chOff x="0" y="0"/>
            <a:chExt cx="676656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66560" cy="548640"/>
            </a:xfrm>
            <a:custGeom>
              <a:avLst/>
              <a:gdLst/>
              <a:ahLst/>
              <a:cxnLst/>
              <a:rect r="r" b="b" t="t" l="l"/>
              <a:pathLst>
                <a:path h="54864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7665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FFCB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fixed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412980" y="3867912"/>
            <a:ext cx="5074920" cy="548640"/>
            <a:chOff x="0" y="0"/>
            <a:chExt cx="67665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66560" cy="731520"/>
            </a:xfrm>
            <a:custGeom>
              <a:avLst/>
              <a:gdLst/>
              <a:ahLst/>
              <a:cxnLst/>
              <a:rect r="r" b="b" t="t" l="l"/>
              <a:pathLst>
                <a:path h="7315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76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Normal form, never scientific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9660">
            <a:off x="12405827" y="5015294"/>
            <a:ext cx="5089227" cy="0"/>
          </a:xfrm>
          <a:prstGeom prst="line">
            <a:avLst/>
          </a:prstGeom>
          <a:ln cap="rnd" w="9525">
            <a:solidFill>
              <a:srgbClr val="2430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1374755" y="5271135"/>
            <a:ext cx="704850" cy="704850"/>
            <a:chOff x="0" y="0"/>
            <a:chExt cx="939800" cy="939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7224A"/>
            </a:solidFill>
            <a:ln w="19050" cap="sq">
              <a:solidFill>
                <a:srgbClr val="17224A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384280" y="528066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412980" y="5184648"/>
            <a:ext cx="5074920" cy="411480"/>
            <a:chOff x="0" y="0"/>
            <a:chExt cx="676656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66560" cy="548640"/>
            </a:xfrm>
            <a:custGeom>
              <a:avLst/>
              <a:gdLst/>
              <a:ahLst/>
              <a:cxnLst/>
              <a:rect r="r" b="b" t="t" l="l"/>
              <a:pathLst>
                <a:path h="54864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67665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FFCB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setprecision(X)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412980" y="5582412"/>
            <a:ext cx="5074920" cy="548640"/>
            <a:chOff x="0" y="0"/>
            <a:chExt cx="676656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66560" cy="731520"/>
            </a:xfrm>
            <a:custGeom>
              <a:avLst/>
              <a:gdLst/>
              <a:ahLst/>
              <a:cxnLst/>
              <a:rect r="r" b="b" t="t" l="l"/>
              <a:pathLst>
                <a:path h="7315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76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Exactly X digits after the point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rot="9660">
            <a:off x="12405827" y="6729794"/>
            <a:ext cx="5089227" cy="0"/>
          </a:xfrm>
          <a:prstGeom prst="line">
            <a:avLst/>
          </a:prstGeom>
          <a:ln cap="rnd" w="9525">
            <a:solidFill>
              <a:srgbClr val="2430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1374755" y="6985635"/>
            <a:ext cx="704850" cy="704850"/>
            <a:chOff x="0" y="0"/>
            <a:chExt cx="939800" cy="939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7224A"/>
            </a:solidFill>
            <a:ln w="19050" cap="sq">
              <a:solidFill>
                <a:srgbClr val="17224A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1384280" y="6995160"/>
            <a:ext cx="685800" cy="685800"/>
            <a:chOff x="0" y="0"/>
            <a:chExt cx="9144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412980" y="6899148"/>
            <a:ext cx="5074920" cy="411480"/>
            <a:chOff x="0" y="0"/>
            <a:chExt cx="676656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66560" cy="548640"/>
            </a:xfrm>
            <a:custGeom>
              <a:avLst/>
              <a:gdLst/>
              <a:ahLst/>
              <a:cxnLst/>
              <a:rect r="r" b="b" t="t" l="l"/>
              <a:pathLst>
                <a:path h="54864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67665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FFCB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 ONCE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412980" y="7296912"/>
            <a:ext cx="5074920" cy="548640"/>
            <a:chOff x="0" y="0"/>
            <a:chExt cx="676656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766560" cy="731520"/>
            </a:xfrm>
            <a:custGeom>
              <a:avLst/>
              <a:gdLst/>
              <a:ahLst/>
              <a:cxnLst/>
              <a:rect r="r" b="b" t="t" l="l"/>
              <a:pathLst>
                <a:path h="7315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676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 stays for every next cout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6458743" y="41910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11480"/>
            <a:ext cx="822960" cy="548640"/>
            <a:chOff x="0" y="0"/>
            <a:chExt cx="1097280" cy="731520"/>
          </a:xfrm>
        </p:grpSpPr>
        <p:sp>
          <p:nvSpPr>
            <p:cNvPr name="Freeform 3" id="3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0" t="0" r="-55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2940">
            <a:off x="815816" y="1202246"/>
            <a:ext cx="16655920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977640" y="411480"/>
            <a:ext cx="8229600" cy="548640"/>
            <a:chOff x="0" y="0"/>
            <a:chExt cx="10972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972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5B67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OPERATORS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440180"/>
            <a:ext cx="16641623" cy="1165860"/>
            <a:chOff x="0" y="0"/>
            <a:chExt cx="2218883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883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131" r="0" b="-2281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8883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1B3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Arithmetic operators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22960" y="2540508"/>
            <a:ext cx="16641623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785"/>
                </a:solidFill>
                <a:latin typeface="Calibri (MS)"/>
                <a:ea typeface="Calibri (MS)"/>
                <a:cs typeface="Calibri (MS)"/>
                <a:sym typeface="Calibri (MS)"/>
              </a:rPr>
              <a:t>Watch out for integer division.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5816" y="3421856"/>
            <a:ext cx="3100388" cy="3580447"/>
            <a:chOff x="0" y="0"/>
            <a:chExt cx="4133850" cy="47739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33850" cy="4773930"/>
            </a:xfrm>
            <a:custGeom>
              <a:avLst/>
              <a:gdLst/>
              <a:ahLst/>
              <a:cxnLst/>
              <a:rect r="r" b="b" t="t" l="l"/>
              <a:pathLst>
                <a:path h="4773930" w="4133850">
                  <a:moveTo>
                    <a:pt x="0" y="257175"/>
                  </a:moveTo>
                  <a:cubicBezTo>
                    <a:pt x="0" y="115189"/>
                    <a:pt x="115189" y="0"/>
                    <a:pt x="257175" y="0"/>
                  </a:cubicBezTo>
                  <a:lnTo>
                    <a:pt x="3876675" y="0"/>
                  </a:lnTo>
                  <a:cubicBezTo>
                    <a:pt x="4018788" y="0"/>
                    <a:pt x="4133850" y="115189"/>
                    <a:pt x="4133850" y="257175"/>
                  </a:cubicBezTo>
                  <a:lnTo>
                    <a:pt x="4133850" y="4516755"/>
                  </a:lnTo>
                  <a:cubicBezTo>
                    <a:pt x="4133850" y="4658868"/>
                    <a:pt x="4018661" y="4773930"/>
                    <a:pt x="3876675" y="4773930"/>
                  </a:cubicBezTo>
                  <a:lnTo>
                    <a:pt x="257175" y="4773930"/>
                  </a:lnTo>
                  <a:cubicBezTo>
                    <a:pt x="115189" y="4773930"/>
                    <a:pt x="0" y="4658741"/>
                    <a:pt x="0" y="45167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E9F5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3634740"/>
            <a:ext cx="3086100" cy="1371600"/>
            <a:chOff x="0" y="0"/>
            <a:chExt cx="4114800" cy="182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14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1148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0A349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+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5074920"/>
            <a:ext cx="3086100" cy="548640"/>
            <a:chOff x="0" y="0"/>
            <a:chExt cx="41148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14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114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1B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60120" y="5751195"/>
            <a:ext cx="281178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5B6785"/>
                </a:solidFill>
                <a:latin typeface="Courier New"/>
                <a:ea typeface="Courier New"/>
                <a:cs typeface="Courier New"/>
                <a:sym typeface="Courier New"/>
              </a:rPr>
              <a:t>7 + 2 = 9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189952" y="3421856"/>
            <a:ext cx="3100388" cy="3580447"/>
            <a:chOff x="0" y="0"/>
            <a:chExt cx="4133850" cy="47739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33850" cy="4773930"/>
            </a:xfrm>
            <a:custGeom>
              <a:avLst/>
              <a:gdLst/>
              <a:ahLst/>
              <a:cxnLst/>
              <a:rect r="r" b="b" t="t" l="l"/>
              <a:pathLst>
                <a:path h="4773930" w="4133850">
                  <a:moveTo>
                    <a:pt x="0" y="257175"/>
                  </a:moveTo>
                  <a:cubicBezTo>
                    <a:pt x="0" y="115189"/>
                    <a:pt x="115189" y="0"/>
                    <a:pt x="257175" y="0"/>
                  </a:cubicBezTo>
                  <a:lnTo>
                    <a:pt x="3876675" y="0"/>
                  </a:lnTo>
                  <a:cubicBezTo>
                    <a:pt x="4018788" y="0"/>
                    <a:pt x="4133850" y="115189"/>
                    <a:pt x="4133850" y="257175"/>
                  </a:cubicBezTo>
                  <a:lnTo>
                    <a:pt x="4133850" y="4516755"/>
                  </a:lnTo>
                  <a:cubicBezTo>
                    <a:pt x="4133850" y="4658868"/>
                    <a:pt x="4018661" y="4773930"/>
                    <a:pt x="3876675" y="4773930"/>
                  </a:cubicBezTo>
                  <a:lnTo>
                    <a:pt x="257175" y="4773930"/>
                  </a:lnTo>
                  <a:cubicBezTo>
                    <a:pt x="115189" y="4773930"/>
                    <a:pt x="0" y="4658741"/>
                    <a:pt x="0" y="45167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E9F5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4197096" y="3634740"/>
            <a:ext cx="3086100" cy="1371600"/>
            <a:chOff x="0" y="0"/>
            <a:chExt cx="4114800" cy="182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14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1148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0A349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-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197096" y="5074920"/>
            <a:ext cx="3086100" cy="548640"/>
            <a:chOff x="0" y="0"/>
            <a:chExt cx="41148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14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114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1B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subtract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4334256" y="5751195"/>
            <a:ext cx="281178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5B6785"/>
                </a:solidFill>
                <a:latin typeface="Courier New"/>
                <a:ea typeface="Courier New"/>
                <a:cs typeface="Courier New"/>
                <a:sym typeface="Courier New"/>
              </a:rPr>
              <a:t>7 - 2 = 5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564088" y="3421856"/>
            <a:ext cx="3100388" cy="3580447"/>
            <a:chOff x="0" y="0"/>
            <a:chExt cx="4133850" cy="477393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33850" cy="4773930"/>
            </a:xfrm>
            <a:custGeom>
              <a:avLst/>
              <a:gdLst/>
              <a:ahLst/>
              <a:cxnLst/>
              <a:rect r="r" b="b" t="t" l="l"/>
              <a:pathLst>
                <a:path h="4773930" w="4133850">
                  <a:moveTo>
                    <a:pt x="0" y="257175"/>
                  </a:moveTo>
                  <a:cubicBezTo>
                    <a:pt x="0" y="115189"/>
                    <a:pt x="115189" y="0"/>
                    <a:pt x="257175" y="0"/>
                  </a:cubicBezTo>
                  <a:lnTo>
                    <a:pt x="3876675" y="0"/>
                  </a:lnTo>
                  <a:cubicBezTo>
                    <a:pt x="4018788" y="0"/>
                    <a:pt x="4133850" y="115189"/>
                    <a:pt x="4133850" y="257175"/>
                  </a:cubicBezTo>
                  <a:lnTo>
                    <a:pt x="4133850" y="4516755"/>
                  </a:lnTo>
                  <a:cubicBezTo>
                    <a:pt x="4133850" y="4658868"/>
                    <a:pt x="4018661" y="4773930"/>
                    <a:pt x="3876675" y="4773930"/>
                  </a:cubicBezTo>
                  <a:lnTo>
                    <a:pt x="257175" y="4773930"/>
                  </a:lnTo>
                  <a:cubicBezTo>
                    <a:pt x="115189" y="4773930"/>
                    <a:pt x="0" y="4658741"/>
                    <a:pt x="0" y="45167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E9F5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7571232" y="3634740"/>
            <a:ext cx="3086100" cy="1371600"/>
            <a:chOff x="0" y="0"/>
            <a:chExt cx="4114800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14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41148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0A349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*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571232" y="5074920"/>
            <a:ext cx="3086100" cy="548640"/>
            <a:chOff x="0" y="0"/>
            <a:chExt cx="41148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14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114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1B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multiply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7708392" y="5751195"/>
            <a:ext cx="281178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5B6785"/>
                </a:solidFill>
                <a:latin typeface="Courier New"/>
                <a:ea typeface="Courier New"/>
                <a:cs typeface="Courier New"/>
                <a:sym typeface="Courier New"/>
              </a:rPr>
              <a:t>7 * 2 = 14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938224" y="3421856"/>
            <a:ext cx="3100388" cy="3580447"/>
            <a:chOff x="0" y="0"/>
            <a:chExt cx="4133850" cy="477393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33850" cy="4773930"/>
            </a:xfrm>
            <a:custGeom>
              <a:avLst/>
              <a:gdLst/>
              <a:ahLst/>
              <a:cxnLst/>
              <a:rect r="r" b="b" t="t" l="l"/>
              <a:pathLst>
                <a:path h="4773930" w="4133850">
                  <a:moveTo>
                    <a:pt x="0" y="257175"/>
                  </a:moveTo>
                  <a:cubicBezTo>
                    <a:pt x="0" y="115189"/>
                    <a:pt x="115189" y="0"/>
                    <a:pt x="257175" y="0"/>
                  </a:cubicBezTo>
                  <a:lnTo>
                    <a:pt x="3876675" y="0"/>
                  </a:lnTo>
                  <a:cubicBezTo>
                    <a:pt x="4018788" y="0"/>
                    <a:pt x="4133850" y="115189"/>
                    <a:pt x="4133850" y="257175"/>
                  </a:cubicBezTo>
                  <a:lnTo>
                    <a:pt x="4133850" y="4516755"/>
                  </a:lnTo>
                  <a:cubicBezTo>
                    <a:pt x="4133850" y="4658868"/>
                    <a:pt x="4018661" y="4773930"/>
                    <a:pt x="3876675" y="4773930"/>
                  </a:cubicBezTo>
                  <a:lnTo>
                    <a:pt x="257175" y="4773930"/>
                  </a:lnTo>
                  <a:cubicBezTo>
                    <a:pt x="115189" y="4773930"/>
                    <a:pt x="0" y="4658741"/>
                    <a:pt x="0" y="4516755"/>
                  </a:cubicBezTo>
                  <a:close/>
                </a:path>
              </a:pathLst>
            </a:custGeom>
            <a:solidFill>
              <a:srgbClr val="0A1230"/>
            </a:solidFill>
            <a:ln w="14288" cap="sq">
              <a:solidFill>
                <a:srgbClr val="0A123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0945368" y="3634740"/>
            <a:ext cx="3086100" cy="1371600"/>
            <a:chOff x="0" y="0"/>
            <a:chExt cx="4114800" cy="1828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14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41148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CB2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945368" y="5074920"/>
            <a:ext cx="3086100" cy="548640"/>
            <a:chOff x="0" y="0"/>
            <a:chExt cx="41148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14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114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divide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082528" y="5751195"/>
            <a:ext cx="281178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A9B4D0"/>
                </a:solidFill>
                <a:latin typeface="Courier New"/>
                <a:ea typeface="Courier New"/>
                <a:cs typeface="Courier New"/>
                <a:sym typeface="Courier New"/>
              </a:rPr>
              <a:t>7 / 2 = 3  (int!)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4312360" y="3421856"/>
            <a:ext cx="3100388" cy="3580447"/>
            <a:chOff x="0" y="0"/>
            <a:chExt cx="4133850" cy="477393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133850" cy="4773930"/>
            </a:xfrm>
            <a:custGeom>
              <a:avLst/>
              <a:gdLst/>
              <a:ahLst/>
              <a:cxnLst/>
              <a:rect r="r" b="b" t="t" l="l"/>
              <a:pathLst>
                <a:path h="4773930" w="4133850">
                  <a:moveTo>
                    <a:pt x="0" y="257175"/>
                  </a:moveTo>
                  <a:cubicBezTo>
                    <a:pt x="0" y="115189"/>
                    <a:pt x="115189" y="0"/>
                    <a:pt x="257175" y="0"/>
                  </a:cubicBezTo>
                  <a:lnTo>
                    <a:pt x="3876675" y="0"/>
                  </a:lnTo>
                  <a:cubicBezTo>
                    <a:pt x="4018788" y="0"/>
                    <a:pt x="4133850" y="115189"/>
                    <a:pt x="4133850" y="257175"/>
                  </a:cubicBezTo>
                  <a:lnTo>
                    <a:pt x="4133850" y="4516755"/>
                  </a:lnTo>
                  <a:cubicBezTo>
                    <a:pt x="4133850" y="4658868"/>
                    <a:pt x="4018661" y="4773930"/>
                    <a:pt x="3876675" y="4773930"/>
                  </a:cubicBezTo>
                  <a:lnTo>
                    <a:pt x="257175" y="4773930"/>
                  </a:lnTo>
                  <a:cubicBezTo>
                    <a:pt x="115189" y="4773930"/>
                    <a:pt x="0" y="4658741"/>
                    <a:pt x="0" y="45167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E9F5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4319504" y="3634740"/>
            <a:ext cx="3086100" cy="1371600"/>
            <a:chOff x="0" y="0"/>
            <a:chExt cx="4114800" cy="1828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14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41148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0A349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%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319504" y="5074920"/>
            <a:ext cx="3086100" cy="548640"/>
            <a:chOff x="0" y="0"/>
            <a:chExt cx="411480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114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114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1B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remainder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4456664" y="5751195"/>
            <a:ext cx="281178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5B6785"/>
                </a:solidFill>
                <a:latin typeface="Courier New"/>
                <a:ea typeface="Courier New"/>
                <a:cs typeface="Courier New"/>
                <a:sym typeface="Courier New"/>
              </a:rPr>
              <a:t>7 % 2 = 1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815816" y="7399496"/>
            <a:ext cx="16655910" cy="1454468"/>
            <a:chOff x="0" y="0"/>
            <a:chExt cx="22207880" cy="193929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207855" cy="1939290"/>
            </a:xfrm>
            <a:custGeom>
              <a:avLst/>
              <a:gdLst/>
              <a:ahLst/>
              <a:cxnLst/>
              <a:rect r="r" b="b" t="t" l="l"/>
              <a:pathLst>
                <a:path h="1939290" w="22207855">
                  <a:moveTo>
                    <a:pt x="0" y="258572"/>
                  </a:moveTo>
                  <a:cubicBezTo>
                    <a:pt x="0" y="115824"/>
                    <a:pt x="115824" y="0"/>
                    <a:pt x="258572" y="0"/>
                  </a:cubicBezTo>
                  <a:lnTo>
                    <a:pt x="21949283" y="0"/>
                  </a:lnTo>
                  <a:cubicBezTo>
                    <a:pt x="22092031" y="0"/>
                    <a:pt x="22207855" y="115824"/>
                    <a:pt x="22207855" y="258572"/>
                  </a:cubicBezTo>
                  <a:lnTo>
                    <a:pt x="22207855" y="1680718"/>
                  </a:lnTo>
                  <a:cubicBezTo>
                    <a:pt x="22207855" y="1823466"/>
                    <a:pt x="22092031" y="1939290"/>
                    <a:pt x="21949283" y="1939290"/>
                  </a:cubicBezTo>
                  <a:lnTo>
                    <a:pt x="258572" y="1939290"/>
                  </a:lnTo>
                  <a:cubicBezTo>
                    <a:pt x="115824" y="1939290"/>
                    <a:pt x="0" y="1823466"/>
                    <a:pt x="0" y="1680718"/>
                  </a:cubicBezTo>
                  <a:close/>
                </a:path>
              </a:pathLst>
            </a:custGeom>
            <a:solidFill>
              <a:srgbClr val="FFCB2B"/>
            </a:solidFill>
            <a:ln w="14288" cap="sq">
              <a:solidFill>
                <a:srgbClr val="FFCB2B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303020" y="7406640"/>
            <a:ext cx="1371600" cy="1440180"/>
            <a:chOff x="0" y="0"/>
            <a:chExt cx="1828800" cy="19202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288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718" t="0" r="-84718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82880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TIP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606040" y="7406640"/>
            <a:ext cx="14447063" cy="1440180"/>
            <a:chOff x="0" y="0"/>
            <a:chExt cx="19262750" cy="19202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926275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62750">
                  <a:moveTo>
                    <a:pt x="0" y="0"/>
                  </a:moveTo>
                  <a:lnTo>
                    <a:pt x="19262750" y="0"/>
                  </a:lnTo>
                  <a:lnTo>
                    <a:pt x="1926275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462" r="0" b="-14546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1926275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A12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 / int drops the decimals — use 7.0 / 2 to get 3.5.  Even number?  n % 2 == 0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6458743" y="41910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B1B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11480"/>
            <a:ext cx="822960" cy="548640"/>
            <a:chOff x="0" y="0"/>
            <a:chExt cx="1097280" cy="731520"/>
          </a:xfrm>
        </p:grpSpPr>
        <p:sp>
          <p:nvSpPr>
            <p:cNvPr name="Freeform 3" id="3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0" t="0" r="-55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2940">
            <a:off x="815816" y="1202246"/>
            <a:ext cx="16655920" cy="0"/>
          </a:xfrm>
          <a:prstGeom prst="line">
            <a:avLst/>
          </a:prstGeom>
          <a:ln cap="rnd" w="9525">
            <a:solidFill>
              <a:srgbClr val="2430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977640" y="411480"/>
            <a:ext cx="8229600" cy="548640"/>
            <a:chOff x="0" y="0"/>
            <a:chExt cx="10972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972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9B4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 FLOW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440180"/>
            <a:ext cx="16641623" cy="1165860"/>
            <a:chOff x="0" y="0"/>
            <a:chExt cx="2218883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883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131" r="0" b="-2281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18883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Logical operators &amp; conditions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22960" y="2540508"/>
            <a:ext cx="16641623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9B4D0"/>
                </a:solidFill>
                <a:latin typeface="Calibri (MS)"/>
                <a:ea typeface="Calibri (MS)"/>
                <a:cs typeface="Calibri (MS)"/>
                <a:sym typeface="Calibri (MS)"/>
              </a:rPr>
              <a:t>Combine checks with &amp;&amp; and ||, branch with if / else.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5816" y="3421856"/>
            <a:ext cx="9478328" cy="5912168"/>
            <a:chOff x="0" y="0"/>
            <a:chExt cx="12637770" cy="78828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37770" cy="7882890"/>
            </a:xfrm>
            <a:custGeom>
              <a:avLst/>
              <a:gdLst/>
              <a:ahLst/>
              <a:cxnLst/>
              <a:rect r="r" b="b" t="t" l="l"/>
              <a:pathLst>
                <a:path h="7882890" w="12637770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2381103" y="0"/>
                  </a:lnTo>
                  <a:cubicBezTo>
                    <a:pt x="12522835" y="0"/>
                    <a:pt x="12637770" y="114935"/>
                    <a:pt x="12637770" y="256667"/>
                  </a:cubicBezTo>
                  <a:lnTo>
                    <a:pt x="12637770" y="7626223"/>
                  </a:lnTo>
                  <a:cubicBezTo>
                    <a:pt x="12637770" y="7767955"/>
                    <a:pt x="12522835" y="7882890"/>
                    <a:pt x="12381103" y="7882890"/>
                  </a:cubicBezTo>
                  <a:lnTo>
                    <a:pt x="256667" y="7882890"/>
                  </a:lnTo>
                  <a:cubicBezTo>
                    <a:pt x="114935" y="7882890"/>
                    <a:pt x="0" y="7767955"/>
                    <a:pt x="0" y="7626223"/>
                  </a:cubicBezTo>
                  <a:close/>
                </a:path>
              </a:pathLst>
            </a:custGeom>
            <a:solidFill>
              <a:srgbClr val="060C22"/>
            </a:solidFill>
            <a:ln w="14288" cap="sq">
              <a:solidFill>
                <a:srgbClr val="24305C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34440" y="3762375"/>
            <a:ext cx="8641080" cy="522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int n;  cin &gt;&gt; n;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if (n % 2 == 0 &amp;&amp; n &gt; 0) {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"positive even";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 else if (n &lt; 0 || n == 0) {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"not positive";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 else {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"positive odd";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897076" y="3490436"/>
            <a:ext cx="6570536" cy="946976"/>
            <a:chOff x="0" y="0"/>
            <a:chExt cx="8760714" cy="12626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60713" cy="1262634"/>
            </a:xfrm>
            <a:custGeom>
              <a:avLst/>
              <a:gdLst/>
              <a:ahLst/>
              <a:cxnLst/>
              <a:rect r="r" b="b" t="t" l="l"/>
              <a:pathLst>
                <a:path h="1262634" w="8760713">
                  <a:moveTo>
                    <a:pt x="0" y="259969"/>
                  </a:moveTo>
                  <a:cubicBezTo>
                    <a:pt x="0" y="116332"/>
                    <a:pt x="116332" y="0"/>
                    <a:pt x="259969" y="0"/>
                  </a:cubicBezTo>
                  <a:lnTo>
                    <a:pt x="8500745" y="0"/>
                  </a:lnTo>
                  <a:cubicBezTo>
                    <a:pt x="8644255" y="0"/>
                    <a:pt x="8760713" y="116332"/>
                    <a:pt x="8760713" y="259969"/>
                  </a:cubicBezTo>
                  <a:lnTo>
                    <a:pt x="8760713" y="1002665"/>
                  </a:lnTo>
                  <a:cubicBezTo>
                    <a:pt x="8760713" y="1146175"/>
                    <a:pt x="8644382" y="1262634"/>
                    <a:pt x="8500745" y="1262634"/>
                  </a:cubicBezTo>
                  <a:lnTo>
                    <a:pt x="259969" y="1262634"/>
                  </a:lnTo>
                  <a:cubicBezTo>
                    <a:pt x="116332" y="1262634"/>
                    <a:pt x="0" y="1146302"/>
                    <a:pt x="0" y="1002665"/>
                  </a:cubicBezTo>
                  <a:close/>
                </a:path>
              </a:pathLst>
            </a:custGeom>
            <a:solidFill>
              <a:srgbClr val="121C40"/>
            </a:solidFill>
            <a:ln w="14288" cap="sq">
              <a:solidFill>
                <a:srgbClr val="24305C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247120" y="3497580"/>
            <a:ext cx="2606040" cy="932688"/>
            <a:chOff x="0" y="0"/>
            <a:chExt cx="3474720" cy="12435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747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3" r="0" b="-444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3474720" cy="12531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CB2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== !=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921740" y="3497580"/>
            <a:ext cx="3429000" cy="932688"/>
            <a:chOff x="0" y="0"/>
            <a:chExt cx="4572000" cy="12435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720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36" r="0" b="-2163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5720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equal / not equal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897076" y="4615148"/>
            <a:ext cx="6570536" cy="946976"/>
            <a:chOff x="0" y="0"/>
            <a:chExt cx="8760714" cy="12626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760713" cy="1262634"/>
            </a:xfrm>
            <a:custGeom>
              <a:avLst/>
              <a:gdLst/>
              <a:ahLst/>
              <a:cxnLst/>
              <a:rect r="r" b="b" t="t" l="l"/>
              <a:pathLst>
                <a:path h="1262634" w="8760713">
                  <a:moveTo>
                    <a:pt x="0" y="259969"/>
                  </a:moveTo>
                  <a:cubicBezTo>
                    <a:pt x="0" y="116332"/>
                    <a:pt x="116332" y="0"/>
                    <a:pt x="259969" y="0"/>
                  </a:cubicBezTo>
                  <a:lnTo>
                    <a:pt x="8500745" y="0"/>
                  </a:lnTo>
                  <a:cubicBezTo>
                    <a:pt x="8644255" y="0"/>
                    <a:pt x="8760713" y="116332"/>
                    <a:pt x="8760713" y="259969"/>
                  </a:cubicBezTo>
                  <a:lnTo>
                    <a:pt x="8760713" y="1002665"/>
                  </a:lnTo>
                  <a:cubicBezTo>
                    <a:pt x="8760713" y="1146175"/>
                    <a:pt x="8644382" y="1262634"/>
                    <a:pt x="8500745" y="1262634"/>
                  </a:cubicBezTo>
                  <a:lnTo>
                    <a:pt x="259969" y="1262634"/>
                  </a:lnTo>
                  <a:cubicBezTo>
                    <a:pt x="116332" y="1262634"/>
                    <a:pt x="0" y="1146302"/>
                    <a:pt x="0" y="1002665"/>
                  </a:cubicBezTo>
                  <a:close/>
                </a:path>
              </a:pathLst>
            </a:custGeom>
            <a:solidFill>
              <a:srgbClr val="121C40"/>
            </a:solidFill>
            <a:ln w="14288" cap="sq">
              <a:solidFill>
                <a:srgbClr val="24305C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247120" y="4622292"/>
            <a:ext cx="2606040" cy="932688"/>
            <a:chOff x="0" y="0"/>
            <a:chExt cx="3474720" cy="12435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747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3" r="0" b="-444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474720" cy="12531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CB2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&lt; &gt; &lt;= &gt;=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921740" y="4622292"/>
            <a:ext cx="3429000" cy="932688"/>
            <a:chOff x="0" y="0"/>
            <a:chExt cx="4572000" cy="12435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720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36" r="0" b="-2163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5720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897076" y="5739860"/>
            <a:ext cx="6570536" cy="946976"/>
            <a:chOff x="0" y="0"/>
            <a:chExt cx="8760714" cy="1262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760713" cy="1262634"/>
            </a:xfrm>
            <a:custGeom>
              <a:avLst/>
              <a:gdLst/>
              <a:ahLst/>
              <a:cxnLst/>
              <a:rect r="r" b="b" t="t" l="l"/>
              <a:pathLst>
                <a:path h="1262634" w="8760713">
                  <a:moveTo>
                    <a:pt x="0" y="259969"/>
                  </a:moveTo>
                  <a:cubicBezTo>
                    <a:pt x="0" y="116332"/>
                    <a:pt x="116332" y="0"/>
                    <a:pt x="259969" y="0"/>
                  </a:cubicBezTo>
                  <a:lnTo>
                    <a:pt x="8500745" y="0"/>
                  </a:lnTo>
                  <a:cubicBezTo>
                    <a:pt x="8644255" y="0"/>
                    <a:pt x="8760713" y="116332"/>
                    <a:pt x="8760713" y="259969"/>
                  </a:cubicBezTo>
                  <a:lnTo>
                    <a:pt x="8760713" y="1002665"/>
                  </a:lnTo>
                  <a:cubicBezTo>
                    <a:pt x="8760713" y="1146175"/>
                    <a:pt x="8644382" y="1262634"/>
                    <a:pt x="8500745" y="1262634"/>
                  </a:cubicBezTo>
                  <a:lnTo>
                    <a:pt x="259969" y="1262634"/>
                  </a:lnTo>
                  <a:cubicBezTo>
                    <a:pt x="116332" y="1262634"/>
                    <a:pt x="0" y="1146302"/>
                    <a:pt x="0" y="1002665"/>
                  </a:cubicBezTo>
                  <a:close/>
                </a:path>
              </a:pathLst>
            </a:custGeom>
            <a:solidFill>
              <a:srgbClr val="121C40"/>
            </a:solidFill>
            <a:ln w="14288" cap="sq">
              <a:solidFill>
                <a:srgbClr val="24305C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1247120" y="5747004"/>
            <a:ext cx="2606040" cy="932688"/>
            <a:chOff x="0" y="0"/>
            <a:chExt cx="3474720" cy="12435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747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3" r="0" b="-444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474720" cy="12531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CB2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&amp;&amp;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921740" y="5747004"/>
            <a:ext cx="3429000" cy="932688"/>
            <a:chOff x="0" y="0"/>
            <a:chExt cx="4572000" cy="12435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720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36" r="0" b="-2163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5720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and — both true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897076" y="6864572"/>
            <a:ext cx="6570536" cy="946976"/>
            <a:chOff x="0" y="0"/>
            <a:chExt cx="8760714" cy="126263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760713" cy="1262634"/>
            </a:xfrm>
            <a:custGeom>
              <a:avLst/>
              <a:gdLst/>
              <a:ahLst/>
              <a:cxnLst/>
              <a:rect r="r" b="b" t="t" l="l"/>
              <a:pathLst>
                <a:path h="1262634" w="8760713">
                  <a:moveTo>
                    <a:pt x="0" y="259969"/>
                  </a:moveTo>
                  <a:cubicBezTo>
                    <a:pt x="0" y="116332"/>
                    <a:pt x="116332" y="0"/>
                    <a:pt x="259969" y="0"/>
                  </a:cubicBezTo>
                  <a:lnTo>
                    <a:pt x="8500745" y="0"/>
                  </a:lnTo>
                  <a:cubicBezTo>
                    <a:pt x="8644255" y="0"/>
                    <a:pt x="8760713" y="116332"/>
                    <a:pt x="8760713" y="259969"/>
                  </a:cubicBezTo>
                  <a:lnTo>
                    <a:pt x="8760713" y="1002665"/>
                  </a:lnTo>
                  <a:cubicBezTo>
                    <a:pt x="8760713" y="1146175"/>
                    <a:pt x="8644382" y="1262634"/>
                    <a:pt x="8500745" y="1262634"/>
                  </a:cubicBezTo>
                  <a:lnTo>
                    <a:pt x="259969" y="1262634"/>
                  </a:lnTo>
                  <a:cubicBezTo>
                    <a:pt x="116332" y="1262634"/>
                    <a:pt x="0" y="1146302"/>
                    <a:pt x="0" y="1002665"/>
                  </a:cubicBezTo>
                  <a:close/>
                </a:path>
              </a:pathLst>
            </a:custGeom>
            <a:solidFill>
              <a:srgbClr val="121C40"/>
            </a:solidFill>
            <a:ln w="14288" cap="sq">
              <a:solidFill>
                <a:srgbClr val="24305C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1247120" y="6871716"/>
            <a:ext cx="2606040" cy="932688"/>
            <a:chOff x="0" y="0"/>
            <a:chExt cx="3474720" cy="12435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747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3" r="0" b="-444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3474720" cy="12531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CB2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||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921740" y="6871716"/>
            <a:ext cx="3429000" cy="932688"/>
            <a:chOff x="0" y="0"/>
            <a:chExt cx="4572000" cy="12435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5720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36" r="0" b="-2163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5720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 — at least one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897076" y="7989284"/>
            <a:ext cx="6570536" cy="946976"/>
            <a:chOff x="0" y="0"/>
            <a:chExt cx="8760714" cy="126263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760713" cy="1262634"/>
            </a:xfrm>
            <a:custGeom>
              <a:avLst/>
              <a:gdLst/>
              <a:ahLst/>
              <a:cxnLst/>
              <a:rect r="r" b="b" t="t" l="l"/>
              <a:pathLst>
                <a:path h="1262634" w="8760713">
                  <a:moveTo>
                    <a:pt x="0" y="259969"/>
                  </a:moveTo>
                  <a:cubicBezTo>
                    <a:pt x="0" y="116332"/>
                    <a:pt x="116332" y="0"/>
                    <a:pt x="259969" y="0"/>
                  </a:cubicBezTo>
                  <a:lnTo>
                    <a:pt x="8500745" y="0"/>
                  </a:lnTo>
                  <a:cubicBezTo>
                    <a:pt x="8644255" y="0"/>
                    <a:pt x="8760713" y="116332"/>
                    <a:pt x="8760713" y="259969"/>
                  </a:cubicBezTo>
                  <a:lnTo>
                    <a:pt x="8760713" y="1002665"/>
                  </a:lnTo>
                  <a:cubicBezTo>
                    <a:pt x="8760713" y="1146175"/>
                    <a:pt x="8644382" y="1262634"/>
                    <a:pt x="8500745" y="1262634"/>
                  </a:cubicBezTo>
                  <a:lnTo>
                    <a:pt x="259969" y="1262634"/>
                  </a:lnTo>
                  <a:cubicBezTo>
                    <a:pt x="116332" y="1262634"/>
                    <a:pt x="0" y="1146302"/>
                    <a:pt x="0" y="1002665"/>
                  </a:cubicBezTo>
                  <a:close/>
                </a:path>
              </a:pathLst>
            </a:custGeom>
            <a:solidFill>
              <a:srgbClr val="121C40"/>
            </a:solidFill>
            <a:ln w="14288" cap="sq">
              <a:solidFill>
                <a:srgbClr val="24305C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1247120" y="7996428"/>
            <a:ext cx="2606040" cy="932688"/>
            <a:chOff x="0" y="0"/>
            <a:chExt cx="3474720" cy="124358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4747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3" r="0" b="-444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3474720" cy="12531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CB2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!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921740" y="7996428"/>
            <a:ext cx="3429000" cy="932688"/>
            <a:chOff x="0" y="0"/>
            <a:chExt cx="4572000" cy="124358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5720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36" r="0" b="-2163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45720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6458743" y="41910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11480"/>
            <a:ext cx="822960" cy="548640"/>
            <a:chOff x="0" y="0"/>
            <a:chExt cx="1097280" cy="731520"/>
          </a:xfrm>
        </p:grpSpPr>
        <p:sp>
          <p:nvSpPr>
            <p:cNvPr name="Freeform 3" id="3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109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0" t="0" r="-55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10512" y="411480"/>
            <a:ext cx="2194560" cy="548640"/>
            <a:chOff x="0" y="0"/>
            <a:chExt cx="292608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9260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A349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ICPC HUE</a:t>
              </a:r>
            </a:p>
          </p:txBody>
        </p:sp>
      </p:grpSp>
      <p:sp>
        <p:nvSpPr>
          <p:cNvPr name="AutoShape 7" id="7"/>
          <p:cNvSpPr/>
          <p:nvPr/>
        </p:nvSpPr>
        <p:spPr>
          <a:xfrm rot="2940">
            <a:off x="815816" y="1202246"/>
            <a:ext cx="16655920" cy="0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977640" y="411480"/>
            <a:ext cx="8229600" cy="548640"/>
            <a:chOff x="0" y="0"/>
            <a:chExt cx="109728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0972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5B67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HOMEWORK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1440180"/>
            <a:ext cx="16641623" cy="1165860"/>
            <a:chOff x="0" y="0"/>
            <a:chExt cx="22188830" cy="1554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883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131" r="0" b="-22813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218883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1B3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Your first sheet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22960" y="2540508"/>
            <a:ext cx="16641623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785"/>
                </a:solidFill>
                <a:latin typeface="Calibri (MS)"/>
                <a:ea typeface="Calibri (MS)"/>
                <a:cs typeface="Calibri (MS)"/>
                <a:sym typeface="Calibri (MS)"/>
              </a:rPr>
              <a:t>Five problems on icpchue.com — start tonight.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79821" y="3809957"/>
            <a:ext cx="13850935" cy="746846"/>
            <a:chOff x="0" y="0"/>
            <a:chExt cx="19817727" cy="10685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817727" cy="1068577"/>
            </a:xfrm>
            <a:custGeom>
              <a:avLst/>
              <a:gdLst/>
              <a:ahLst/>
              <a:cxnLst/>
              <a:rect r="r" b="b" t="t" l="l"/>
              <a:pathLst>
                <a:path h="1068577" w="19817727">
                  <a:moveTo>
                    <a:pt x="0" y="0"/>
                  </a:moveTo>
                  <a:lnTo>
                    <a:pt x="19817727" y="0"/>
                  </a:lnTo>
                  <a:lnTo>
                    <a:pt x="19817727" y="1068577"/>
                  </a:lnTo>
                  <a:lnTo>
                    <a:pt x="0" y="1068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861" r="40478" b="-14931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9817727" cy="11352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99"/>
                </a:lnSpc>
              </a:pPr>
              <a:r>
                <a:rPr lang="en-US" sz="3749">
                  <a:solidFill>
                    <a:srgbClr val="0B1B3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https://www.icpchue.com/dashboard/sheets/level-0/sheet-a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428232" y="4524155"/>
            <a:ext cx="8861106" cy="14228"/>
          </a:xfrm>
          <a:prstGeom prst="line">
            <a:avLst/>
          </a:prstGeom>
          <a:ln cap="rnd" w="9525">
            <a:solidFill>
              <a:srgbClr val="E3E9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379821" y="5143500"/>
            <a:ext cx="9233471" cy="3724770"/>
            <a:chOff x="0" y="0"/>
            <a:chExt cx="12311294" cy="4966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311294" cy="4966360"/>
            </a:xfrm>
            <a:custGeom>
              <a:avLst/>
              <a:gdLst/>
              <a:ahLst/>
              <a:cxnLst/>
              <a:rect r="r" b="b" t="t" l="l"/>
              <a:pathLst>
                <a:path h="4966360" w="12311294">
                  <a:moveTo>
                    <a:pt x="0" y="165545"/>
                  </a:moveTo>
                  <a:cubicBezTo>
                    <a:pt x="0" y="74131"/>
                    <a:pt x="184643" y="0"/>
                    <a:pt x="412335" y="0"/>
                  </a:cubicBezTo>
                  <a:lnTo>
                    <a:pt x="11898960" y="0"/>
                  </a:lnTo>
                  <a:cubicBezTo>
                    <a:pt x="12126651" y="0"/>
                    <a:pt x="12311294" y="74131"/>
                    <a:pt x="12311294" y="165545"/>
                  </a:cubicBezTo>
                  <a:lnTo>
                    <a:pt x="12311294" y="4800815"/>
                  </a:lnTo>
                  <a:cubicBezTo>
                    <a:pt x="12311294" y="4892229"/>
                    <a:pt x="12126651" y="4966360"/>
                    <a:pt x="11898960" y="4966360"/>
                  </a:cubicBezTo>
                  <a:lnTo>
                    <a:pt x="412335" y="4966360"/>
                  </a:lnTo>
                  <a:cubicBezTo>
                    <a:pt x="184643" y="4966360"/>
                    <a:pt x="0" y="4892229"/>
                    <a:pt x="0" y="4800815"/>
                  </a:cubicBezTo>
                  <a:close/>
                </a:path>
              </a:pathLst>
            </a:custGeom>
            <a:solidFill>
              <a:srgbClr val="0A1230"/>
            </a:solidFill>
            <a:ln w="14288" cap="sq">
              <a:solidFill>
                <a:srgbClr val="0A123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5717260"/>
            <a:ext cx="5815328" cy="2360693"/>
            <a:chOff x="0" y="0"/>
            <a:chExt cx="7753771" cy="31475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753771" cy="3147591"/>
            </a:xfrm>
            <a:custGeom>
              <a:avLst/>
              <a:gdLst/>
              <a:ahLst/>
              <a:cxnLst/>
              <a:rect r="r" b="b" t="t" l="l"/>
              <a:pathLst>
                <a:path h="3147591" w="7753771">
                  <a:moveTo>
                    <a:pt x="0" y="0"/>
                  </a:moveTo>
                  <a:lnTo>
                    <a:pt x="7753771" y="0"/>
                  </a:lnTo>
                  <a:lnTo>
                    <a:pt x="7753771" y="3147591"/>
                  </a:lnTo>
                  <a:lnTo>
                    <a:pt x="0" y="31475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513" t="0" r="-54422" b="-11497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753771" cy="319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sz="7500" b="true">
                  <a:solidFill>
                    <a:srgbClr val="FFCB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16 </a:t>
              </a:r>
              <a:r>
                <a:rPr lang="en-US" sz="7500" b="true">
                  <a:solidFill>
                    <a:srgbClr val="FFCB2B"/>
                  </a:solidFill>
                  <a:latin typeface="Arial Bold"/>
                  <a:ea typeface="Arial Bold"/>
                  <a:cs typeface="Arial Bold"/>
                  <a:sym typeface="Arial Bold"/>
                  <a:hlinkClick r:id="rId4" tooltip="https://problam.com"/>
                </a:rPr>
                <a:t>Problam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16 problem must be done by 24/10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( the time of the next session )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6458743" y="41910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B1B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685800"/>
            <a:ext cx="932688" cy="905256"/>
            <a:chOff x="0" y="0"/>
            <a:chExt cx="1243584" cy="1207008"/>
          </a:xfrm>
        </p:grpSpPr>
        <p:sp>
          <p:nvSpPr>
            <p:cNvPr name="Freeform 4" id="4" descr="/home/yousefmsm1/Desktop/ICPC HUE - Canva Template Kit/assets/logo-ai-faculty.png"/>
            <p:cNvSpPr/>
            <p:nvPr/>
          </p:nvSpPr>
          <p:spPr>
            <a:xfrm flipH="false" flipV="false" rot="0">
              <a:off x="0" y="0"/>
              <a:ext cx="1243584" cy="1207008"/>
            </a:xfrm>
            <a:custGeom>
              <a:avLst/>
              <a:gdLst/>
              <a:ahLst/>
              <a:cxnLst/>
              <a:rect r="r" b="b" t="t" l="l"/>
              <a:pathLst>
                <a:path h="1207008" w="1243584">
                  <a:moveTo>
                    <a:pt x="0" y="0"/>
                  </a:moveTo>
                  <a:lnTo>
                    <a:pt x="1243584" y="0"/>
                  </a:lnTo>
                  <a:lnTo>
                    <a:pt x="1243584" y="1207008"/>
                  </a:lnTo>
                  <a:lnTo>
                    <a:pt x="0" y="1207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9" r="0" b="-79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338603" y="795528"/>
            <a:ext cx="2125980" cy="768096"/>
            <a:chOff x="0" y="0"/>
            <a:chExt cx="2834640" cy="1024128"/>
          </a:xfrm>
        </p:grpSpPr>
        <p:sp>
          <p:nvSpPr>
            <p:cNvPr name="Freeform 6" id="6" descr="/home/yousefmsm1/Desktop/ICPC HUE - Canva Template Kit/assets/logo-hue-white.png"/>
            <p:cNvSpPr/>
            <p:nvPr/>
          </p:nvSpPr>
          <p:spPr>
            <a:xfrm flipH="false" flipV="false" rot="0">
              <a:off x="0" y="0"/>
              <a:ext cx="28346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2" r="0" b="-31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115071" y="2331720"/>
            <a:ext cx="2057400" cy="1357884"/>
            <a:chOff x="0" y="0"/>
            <a:chExt cx="2743200" cy="1810512"/>
          </a:xfrm>
        </p:grpSpPr>
        <p:sp>
          <p:nvSpPr>
            <p:cNvPr name="Freeform 8" id="8" descr="/home/yousefmsm1/Desktop/ICPC HUE - Canva Template Kit/assets/logo-icpc-hue.png"/>
            <p:cNvSpPr/>
            <p:nvPr/>
          </p:nvSpPr>
          <p:spPr>
            <a:xfrm flipH="false" flipV="false" rot="0">
              <a:off x="0" y="0"/>
              <a:ext cx="2743200" cy="1810512"/>
            </a:xfrm>
            <a:custGeom>
              <a:avLst/>
              <a:gdLst/>
              <a:ahLst/>
              <a:cxnLst/>
              <a:rect r="r" b="b" t="t" l="l"/>
              <a:pathLst>
                <a:path h="181051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810512"/>
                  </a:lnTo>
                  <a:lnTo>
                    <a:pt x="0" y="1810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4" t="0" r="-5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3909060"/>
            <a:ext cx="16641623" cy="1645920"/>
            <a:chOff x="0" y="0"/>
            <a:chExt cx="22188830" cy="219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8883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7009" r="0" b="-14700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18883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Questions?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5554980"/>
            <a:ext cx="16641623" cy="685800"/>
            <a:chOff x="0" y="0"/>
            <a:chExt cx="2218883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18883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2823" r="0" b="-42282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218883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C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See you on Wednesday's contest  ·  icpchue.com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60057" y="6858000"/>
            <a:ext cx="576072" cy="576072"/>
            <a:chOff x="0" y="0"/>
            <a:chExt cx="768096" cy="768096"/>
          </a:xfrm>
        </p:grpSpPr>
        <p:sp>
          <p:nvSpPr>
            <p:cNvPr name="Freeform 16" id="16" descr="/home/yousefmsm1/Desktop/ICPC HUE - Canva Template Kit/pptx_build/i_fb_w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190509" y="6858000"/>
            <a:ext cx="576072" cy="576072"/>
            <a:chOff x="0" y="0"/>
            <a:chExt cx="768096" cy="768096"/>
          </a:xfrm>
        </p:grpSpPr>
        <p:sp>
          <p:nvSpPr>
            <p:cNvPr name="Freeform 18" id="18" descr="/home/yousefmsm1/Desktop/ICPC HUE - Canva Template Kit/pptx_build/i_ig_w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520961" y="6858000"/>
            <a:ext cx="576072" cy="576072"/>
            <a:chOff x="0" y="0"/>
            <a:chExt cx="768096" cy="768096"/>
          </a:xfrm>
        </p:grpSpPr>
        <p:sp>
          <p:nvSpPr>
            <p:cNvPr name="Freeform 20" id="20" descr="/home/yousefmsm1/Desktop/ICPC HUE - Canva Template Kit/pptx_build/i_li_w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851413" y="6858000"/>
            <a:ext cx="576072" cy="576072"/>
            <a:chOff x="0" y="0"/>
            <a:chExt cx="768096" cy="768096"/>
          </a:xfrm>
        </p:grpSpPr>
        <p:sp>
          <p:nvSpPr>
            <p:cNvPr name="Freeform 22" id="22" descr="/home/yousefmsm1/Desktop/ICPC HUE - Canva Template Kit/pptx_build/i_tt_w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DAHYiHmXR_s</dc:identifier>
  <dcterms:modified xsi:type="dcterms:W3CDTF">2011-08-01T06:04:30Z</dcterms:modified>
  <cp:revision>1</cp:revision>
  <dc:title>Our policy</dc:title>
</cp:coreProperties>
</file>